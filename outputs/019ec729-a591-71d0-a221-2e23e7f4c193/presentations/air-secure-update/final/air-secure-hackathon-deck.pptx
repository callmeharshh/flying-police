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4894734fd41e0" /><Relationship Type="http://schemas.openxmlformats.org/officeDocument/2006/relationships/extended-properties" Target="/docProps/app.xml" Id="Rbfb75e55de8d47f1" /><Relationship Type="http://schemas.openxmlformats.org/officeDocument/2006/relationships/officeDocument" Target="/ppt/presentation.xml" Id="Rf3af3fb5f5b7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f2c330a474196"/>
  </p:sldMasterIdLst>
  <p:notesMasterIdLst>
    <p:notesMasterId xmlns:r="http://schemas.openxmlformats.org/officeDocument/2006/relationships" r:id="R8dd99b6badde4784"/>
  </p:notesMasterIdLst>
  <p:sldIdLst>
    <p:sldId xmlns:r="http://schemas.openxmlformats.org/officeDocument/2006/relationships" id="256" r:id="R204878ccbdf1480e"/>
    <p:sldId xmlns:r="http://schemas.openxmlformats.org/officeDocument/2006/relationships" id="257" r:id="Radae0ae440c94324"/>
    <p:sldId xmlns:r="http://schemas.openxmlformats.org/officeDocument/2006/relationships" id="258" r:id="Rdf604cf52b3a4264"/>
    <p:sldId xmlns:r="http://schemas.openxmlformats.org/officeDocument/2006/relationships" id="259" r:id="R296a5b5b5fa04dab"/>
    <p:sldId xmlns:r="http://schemas.openxmlformats.org/officeDocument/2006/relationships" id="260" r:id="R812a57e0de25440f"/>
    <p:sldId xmlns:r="http://schemas.openxmlformats.org/officeDocument/2006/relationships" id="261" r:id="R775a0e81b9ab4cac"/>
    <p:sldId xmlns:r="http://schemas.openxmlformats.org/officeDocument/2006/relationships" id="262" r:id="R9fd84d23c24b4536"/>
    <p:sldId xmlns:r="http://schemas.openxmlformats.org/officeDocument/2006/relationships" id="263" r:id="R67d6b4d0452141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9e666bd970420b" /><Relationship Type="http://schemas.openxmlformats.org/officeDocument/2006/relationships/slideMaster" Target="/ppt/slideMasters/slideMaster1.xml" Id="R833f2c330a474196" /><Relationship Type="http://schemas.openxmlformats.org/officeDocument/2006/relationships/notesMaster" Target="/ppt/notesMasters/notesMaster1.xml" Id="R8dd99b6badde4784" /><Relationship Type="http://schemas.openxmlformats.org/officeDocument/2006/relationships/presProps" Target="/ppt/presProps.xml" Id="Rf33ffe7854614781" /><Relationship Type="http://schemas.openxmlformats.org/officeDocument/2006/relationships/viewProps" Target="/ppt/viewProps.xml" Id="R32e9ce7a7b884e5d" /><Relationship Type="http://schemas.openxmlformats.org/officeDocument/2006/relationships/tableStyles" Target="/ppt/tableStyles.xml" Id="R8baeee35985f4db0" /><Relationship Type="http://schemas.openxmlformats.org/officeDocument/2006/relationships/slide" Target="/ppt/slides/slide1.xml" Id="R204878ccbdf1480e" /><Relationship Type="http://schemas.openxmlformats.org/officeDocument/2006/relationships/slide" Target="/ppt/slides/slide2.xml" Id="Radae0ae440c94324" /><Relationship Type="http://schemas.openxmlformats.org/officeDocument/2006/relationships/slide" Target="/ppt/slides/slide3.xml" Id="Rdf604cf52b3a4264" /><Relationship Type="http://schemas.openxmlformats.org/officeDocument/2006/relationships/slide" Target="/ppt/slides/slide4.xml" Id="R296a5b5b5fa04dab" /><Relationship Type="http://schemas.openxmlformats.org/officeDocument/2006/relationships/slide" Target="/ppt/slides/slide5.xml" Id="R812a57e0de25440f" /><Relationship Type="http://schemas.openxmlformats.org/officeDocument/2006/relationships/slide" Target="/ppt/slides/slide6.xml" Id="R775a0e81b9ab4cac" /><Relationship Type="http://schemas.openxmlformats.org/officeDocument/2006/relationships/slide" Target="/ppt/slides/slide7.xml" Id="R9fd84d23c24b4536" /><Relationship Type="http://schemas.openxmlformats.org/officeDocument/2006/relationships/slide" Target="/ppt/slides/slide8.xml" Id="R67d6b4d04521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2fa57f5c6d4f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50b5ca25f4b59" /><Relationship Type="http://schemas.openxmlformats.org/officeDocument/2006/relationships/notesMaster" Target="/ppt/notesMasters/notesMaster1.xml" Id="R95df52c899bf4e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58f2c52d57471d" /><Relationship Type="http://schemas.openxmlformats.org/officeDocument/2006/relationships/notesMaster" Target="/ppt/notesMasters/notesMaster1.xml" Id="Re808fbc5a2f043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8f6dca9d3d4556" /><Relationship Type="http://schemas.openxmlformats.org/officeDocument/2006/relationships/notesMaster" Target="/ppt/notesMasters/notesMaster1.xml" Id="Rf33c44189d064f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957e6ceeba4649" /><Relationship Type="http://schemas.openxmlformats.org/officeDocument/2006/relationships/notesMaster" Target="/ppt/notesMasters/notesMaster1.xml" Id="R0c15f113f6f040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9eef9dd4bd479c" /><Relationship Type="http://schemas.openxmlformats.org/officeDocument/2006/relationships/notesMaster" Target="/ppt/notesMasters/notesMaster1.xml" Id="R90233c8353be4e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3f3eaf7a44a62" /><Relationship Type="http://schemas.openxmlformats.org/officeDocument/2006/relationships/notesMaster" Target="/ppt/notesMasters/notesMaster1.xml" Id="R6f958eaa9bbc4a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d48dffdeb4457" /><Relationship Type="http://schemas.openxmlformats.org/officeDocument/2006/relationships/notesMaster" Target="/ppt/notesMasters/notesMaster1.xml" Id="R08884c3bda3e4b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bc1a69237d4019" /><Relationship Type="http://schemas.openxmlformats.org/officeDocument/2006/relationships/notesMaster" Target="/ppt/notesMasters/notesMaster1.xml" Id="R8e5f97b7aa7a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c4665a6274e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0d8022f85b4c18" /><Relationship Type="http://schemas.openxmlformats.org/officeDocument/2006/relationships/slideLayout" Target="/ppt/slideLayouts/slideLayout1.xml" Id="R90004e66145343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04e66145343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b6c22e5ea4e54" /><Relationship Type="http://schemas.openxmlformats.org/officeDocument/2006/relationships/notesSlide" Target="/ppt/notesSlides/notesSlide1.xml" Id="Re8e62f2aca604a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2eda47ccf4d05" /><Relationship Type="http://schemas.openxmlformats.org/officeDocument/2006/relationships/notesSlide" Target="/ppt/notesSlides/notesSlide2.xml" Id="R5deaea26547e4a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b77b5d53e4d25" /><Relationship Type="http://schemas.openxmlformats.org/officeDocument/2006/relationships/notesSlide" Target="/ppt/notesSlides/notesSlide3.xml" Id="R660129dd384047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516cd9730477f" /><Relationship Type="http://schemas.openxmlformats.org/officeDocument/2006/relationships/notesSlide" Target="/ppt/notesSlides/notesSlide4.xml" Id="R4062ee61d73040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e3ddec83648e7" /><Relationship Type="http://schemas.openxmlformats.org/officeDocument/2006/relationships/notesSlide" Target="/ppt/notesSlides/notesSlide5.xml" Id="R3fead71ac16d4e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ccb72c9184df4" /><Relationship Type="http://schemas.openxmlformats.org/officeDocument/2006/relationships/notesSlide" Target="/ppt/notesSlides/notesSlide6.xml" Id="R4339b5501b004b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9fddefd7541ae" /><Relationship Type="http://schemas.openxmlformats.org/officeDocument/2006/relationships/image" Target="/ppt/media/image.jpeg" Id="Re090cf27e19e41dc" /><Relationship Type="http://schemas.openxmlformats.org/officeDocument/2006/relationships/hyperlink" Target="https://www.loom.com/share/edf1db4b1fe8478a9639fade8c22fe8e" TargetMode="External" Id="R87ba1211f52d4646" /><Relationship Type="http://schemas.openxmlformats.org/officeDocument/2006/relationships/hyperlink" Target="https://www.loom.com/share/edf1db4b1fe8478a9639fade8c22fe8e" TargetMode="External" Id="Rdd783def331848ce" /><Relationship Type="http://schemas.openxmlformats.org/officeDocument/2006/relationships/notesSlide" Target="/ppt/notesSlides/notesSlide7.xml" Id="R01df0c93278c4a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b0d4dd26c41e2" /><Relationship Type="http://schemas.openxmlformats.org/officeDocument/2006/relationships/notesSlide" Target="/ppt/notesSlides/notesSlide8.xml" Id="R374a986bbed749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B0F422E-AAB4-4440-BC91-5FCAD3D2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B"/>
          </a:solidFill>
          <a:ln xmlns:a="http://schemas.openxmlformats.org/drawingml/2006/main" w="0">
            <a:solidFill>
              <a:srgbClr val="10201B"/>
            </a:solidFill>
            <a:prstDash val="solid"/>
          </a:ln>
        </p:spPr>
      </p:sp>
      <p:sp>
        <p:nvSpPr>
          <p:cNvPr id="2" name="cover-bg">
            <a:extLst xmlns:a="http://schemas.openxmlformats.org/drawingml/2006/main">
              <a:ext uri="{FF2B5EF4-FFF2-40B4-BE49-F238E27FC236}">
                <a16:creationId xmlns:a16="http://schemas.microsoft.com/office/drawing/2014/main" id="{5FA5E041-0CF2-4783-A532-44105042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B"/>
          </a:solidFill>
          <a:ln xmlns:a="http://schemas.openxmlformats.org/drawingml/2006/main" w="0">
            <a:solidFill>
              <a:srgbClr val="10201B"/>
            </a:solidFill>
            <a:prstDash val="solid"/>
          </a:ln>
        </p:spPr>
      </p:sp>
      <p:sp>
        <p:nvSpPr>
          <p:cNvPr id="3" name="cover-base">
            <a:extLst xmlns:a="http://schemas.openxmlformats.org/drawingml/2006/main">
              <a:ext uri="{FF2B5EF4-FFF2-40B4-BE49-F238E27FC236}">
                <a16:creationId xmlns:a16="http://schemas.microsoft.com/office/drawing/2014/main" id="{EAB3BE47-3624-4A29-B6FC-555B887F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B"/>
          </a:solidFill>
          <a:ln xmlns:a="http://schemas.openxmlformats.org/drawingml/2006/main" w="0">
            <a:solidFill>
              <a:srgbClr val="10201B"/>
            </a:solidFill>
            <a:prstDash val="solid"/>
          </a:ln>
        </p:spPr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50837B16-DD2A-40C4-A143-429FC7E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66E8F79-7C3B-4788-AE62-E752D743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EEB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EBDD"/>
                </a:solidFill>
                <a:latin typeface="Aptos"/>
                <a:ea typeface="Aptos"/>
                <a:cs typeface="Aptos"/>
              </a:rPr>
              <a:t>CODEX COMMUNITY HACKATHON PUNE | LOOPS HOUSE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14122E-A120-4D8B-9B65-8E84274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47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Air Secure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C8B87C69-3BD9-4044-8B5D-ED35DB7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AE2"/>
                </a:solidFill>
                <a:latin typeface="Aptos"/>
                <a:ea typeface="Aptos"/>
                <a:cs typeface="Aptos"/>
              </a:rPr>
              <a:t>Drone-aware enterprise security monitoring for large sites</a:t>
            </a:r>
          </a:p>
        </p:txBody>
      </p:sp>
      <p:sp>
        <p:nvSpPr>
          <p:cNvPr id="8" name="cover-claim">
            <a:extLst xmlns:a="http://schemas.openxmlformats.org/drawingml/2006/main">
              <a:ext uri="{FF2B5EF4-FFF2-40B4-BE49-F238E27FC236}">
                <a16:creationId xmlns:a16="http://schemas.microsoft.com/office/drawing/2014/main" id="{733299AB-33F8-42B4-9F63-F6585CB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6048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Connect drones, CCTV, access control and incident workflows so alerts become verified, prioritized response actions.</a:t>
            </a:r>
          </a:p>
        </p:txBody>
      </p:sp>
      <p:sp>
        <p:nvSpPr>
          <p:cNvPr id="9" name="pill-bg">
            <a:extLst xmlns:a="http://schemas.openxmlformats.org/drawingml/2006/main">
              <a:ext uri="{FF2B5EF4-FFF2-40B4-BE49-F238E27FC236}">
                <a16:creationId xmlns:a16="http://schemas.microsoft.com/office/drawing/2014/main" id="{69F09976-7C45-4E1F-A3D2-794F3F40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228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2C5F51"/>
            </a:solidFill>
            <a:prstDash val="solid"/>
          </a:ln>
        </p:spPr>
      </p:sp>
      <p:sp>
        <p:nvSpPr>
          <p:cNvPr id="10" name="pill-label">
            <a:extLst xmlns:a="http://schemas.openxmlformats.org/drawingml/2006/main">
              <a:ext uri="{FF2B5EF4-FFF2-40B4-BE49-F238E27FC236}">
                <a16:creationId xmlns:a16="http://schemas.microsoft.com/office/drawing/2014/main" id="{8BE0E9B8-2D11-4993-A206-8BC04B9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EEB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EBDD"/>
                </a:solidFill>
                <a:latin typeface="Aptos"/>
                <a:ea typeface="Aptos"/>
                <a:cs typeface="Aptos"/>
              </a:rPr>
              <a:t>Hackathon submission context</a:t>
            </a:r>
          </a:p>
        </p:txBody>
      </p:sp>
      <p:sp>
        <p:nvSpPr>
          <p:cNvPr id="11" name="hackathon-url">
            <a:extLst xmlns:a="http://schemas.openxmlformats.org/drawingml/2006/main">
              <a:ext uri="{FF2B5EF4-FFF2-40B4-BE49-F238E27FC236}">
                <a16:creationId xmlns:a16="http://schemas.microsoft.com/office/drawing/2014/main" id="{C8C39650-86A8-47D8-A837-F7B6DE55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6CFC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6CFC0"/>
                </a:solidFill>
                <a:latin typeface="Aptos"/>
                <a:ea typeface="Aptos"/>
                <a:cs typeface="Aptos"/>
              </a:rPr>
              <a:t>https://www.loops.house/codex-community-hackathon-pune/playground/ideate</a:t>
            </a:r>
          </a:p>
        </p:txBody>
      </p:sp>
      <p:sp>
        <p:nvSpPr>
          <p:cNvPr id="1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E8A2DB8-5BF0-4468-B63F-348FD6B7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B6C6007-B084-499B-B502-C156A275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Infra security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E23EE21-E27C-4885-B863-03065286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Perimeter, assets, utilities and critical zones monitored as one surface.</a:t>
            </a:r>
          </a:p>
        </p:txBody>
      </p:sp>
      <p:sp>
        <p:nvSpPr>
          <p:cNvPr id="1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50B6B090-49DF-42AE-AA5F-E468E8D0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814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0A70F15-9767-43F0-96CD-E729D6F4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195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Human safety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859FD2D-EBD3-4244-ABEF-CC69924A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434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Remote inspection first, fewer risky night patrols and faster escalation.</a:t>
            </a:r>
          </a:p>
        </p:txBody>
      </p:sp>
      <p:sp>
        <p:nvSpPr>
          <p:cNvPr id="1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633A881-F51F-40F0-9375-597FB9E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1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F89527D-0458-4A73-862C-AED169DD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Ops efficiency</a:t>
            </a:r>
          </a:p>
        </p:txBody>
      </p:sp>
      <p:sp>
        <p:nvSpPr>
          <p:cNvPr id="2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233C312-7FC5-46DA-B865-A7730A36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Lower camera fatigue, faster triage and reusable intelligence across large sites.</a:t>
            </a:r>
          </a:p>
        </p:txBody>
      </p:sp>
      <p:sp>
        <p:nvSpPr>
          <p:cNvPr id="21" name="site-map">
            <a:extLst xmlns:a="http://schemas.openxmlformats.org/drawingml/2006/main">
              <a:ext uri="{FF2B5EF4-FFF2-40B4-BE49-F238E27FC236}">
                <a16:creationId xmlns:a16="http://schemas.microsoft.com/office/drawing/2014/main" id="{039DE120-63C0-4F5F-8D32-BC1CA6C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14400"/>
            <a:ext cx="3714750" cy="4476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7342D"/>
          </a:solidFill>
          <a:ln xmlns:a="http://schemas.openxmlformats.org/drawingml/2006/main" w="19050">
            <a:solidFill>
              <a:srgbClr val="2B5B4F"/>
            </a:solidFill>
            <a:prstDash val="solid"/>
          </a:ln>
        </p:spPr>
      </p:sp>
      <p:sp>
        <p:nvSpPr>
          <p:cNvPr id="22" name="map-title">
            <a:extLst xmlns:a="http://schemas.openxmlformats.org/drawingml/2006/main">
              <a:ext uri="{FF2B5EF4-FFF2-40B4-BE49-F238E27FC236}">
                <a16:creationId xmlns:a16="http://schemas.microsoft.com/office/drawing/2014/main" id="{D4AF2B69-47C6-45C3-97B4-622392ED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162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B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EEBDD"/>
                </a:solidFill>
                <a:latin typeface="Aptos"/>
                <a:ea typeface="Aptos"/>
                <a:cs typeface="Aptos"/>
              </a:rPr>
              <a:t>connected enterprise site</a:t>
            </a:r>
          </a:p>
        </p:txBody>
      </p:sp>
      <p:sp>
        <p:nvSpPr>
          <p:cNvPr id="23" name="map-road-1">
            <a:extLst xmlns:a="http://schemas.openxmlformats.org/drawingml/2006/main">
              <a:ext uri="{FF2B5EF4-FFF2-40B4-BE49-F238E27FC236}">
                <a16:creationId xmlns:a16="http://schemas.microsoft.com/office/drawing/2014/main" id="{88A280EA-0246-4F2A-A399-7047EAAC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52600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F62"/>
          </a:solidFill>
          <a:ln xmlns:a="http://schemas.openxmlformats.org/drawingml/2006/main" w="0">
            <a:solidFill>
              <a:srgbClr val="416F62"/>
            </a:solidFill>
            <a:prstDash val="solid"/>
          </a:ln>
        </p:spPr>
      </p:sp>
      <p:sp>
        <p:nvSpPr>
          <p:cNvPr id="24" name="map-road-2">
            <a:extLst xmlns:a="http://schemas.openxmlformats.org/drawingml/2006/main">
              <a:ext uri="{FF2B5EF4-FFF2-40B4-BE49-F238E27FC236}">
                <a16:creationId xmlns:a16="http://schemas.microsoft.com/office/drawing/2014/main" id="{13D381D9-77FD-4A59-9749-57B1067F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24200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F62"/>
          </a:solidFill>
          <a:ln xmlns:a="http://schemas.openxmlformats.org/drawingml/2006/main" w="0">
            <a:solidFill>
              <a:srgbClr val="416F62"/>
            </a:solidFill>
            <a:prstDash val="solid"/>
          </a:ln>
        </p:spPr>
      </p:sp>
      <p:sp>
        <p:nvSpPr>
          <p:cNvPr id="25" name="map-road-3">
            <a:extLst xmlns:a="http://schemas.openxmlformats.org/drawingml/2006/main">
              <a:ext uri="{FF2B5EF4-FFF2-40B4-BE49-F238E27FC236}">
                <a16:creationId xmlns:a16="http://schemas.microsoft.com/office/drawing/2014/main" id="{BA215D45-3D6F-47F2-AC1C-E8FDAF06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57350"/>
            <a:ext cx="285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F62"/>
          </a:solidFill>
          <a:ln xmlns:a="http://schemas.openxmlformats.org/drawingml/2006/main" w="0">
            <a:solidFill>
              <a:srgbClr val="416F62"/>
            </a:solidFill>
            <a:prstDash val="solid"/>
          </a:ln>
        </p:spPr>
      </p:sp>
      <p:sp>
        <p:nvSpPr>
          <p:cNvPr id="26" name="map-road-4">
            <a:extLst xmlns:a="http://schemas.openxmlformats.org/drawingml/2006/main">
              <a:ext uri="{FF2B5EF4-FFF2-40B4-BE49-F238E27FC236}">
                <a16:creationId xmlns:a16="http://schemas.microsoft.com/office/drawing/2014/main" id="{A4410027-E759-431C-8B67-925BA9A2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57350"/>
            <a:ext cx="285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F62"/>
          </a:solidFill>
          <a:ln xmlns:a="http://schemas.openxmlformats.org/drawingml/2006/main" w="0">
            <a:solidFill>
              <a:srgbClr val="416F62"/>
            </a:solidFill>
            <a:prstDash val="solid"/>
          </a:ln>
        </p:spPr>
      </p:sp>
      <p:sp>
        <p:nvSpPr>
          <p:cNvPr id="27" name="warehouse">
            <a:extLst xmlns:a="http://schemas.openxmlformats.org/drawingml/2006/main">
              <a:ext uri="{FF2B5EF4-FFF2-40B4-BE49-F238E27FC236}">
                <a16:creationId xmlns:a16="http://schemas.microsoft.com/office/drawing/2014/main" id="{0AC02066-9921-4B88-811C-E5730000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1200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03F37"/>
          </a:solidFill>
          <a:ln xmlns:a="http://schemas.openxmlformats.org/drawingml/2006/main" w="9525">
            <a:solidFill>
              <a:srgbClr val="4C8071"/>
            </a:solidFill>
            <a:prstDash val="solid"/>
          </a:ln>
        </p:spPr>
      </p:sp>
      <p:sp>
        <p:nvSpPr>
          <p:cNvPr id="28" name="plant">
            <a:extLst xmlns:a="http://schemas.openxmlformats.org/drawingml/2006/main">
              <a:ext uri="{FF2B5EF4-FFF2-40B4-BE49-F238E27FC236}">
                <a16:creationId xmlns:a16="http://schemas.microsoft.com/office/drawing/2014/main" id="{BD51CE40-D089-49D2-BC80-F40E2B7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00250"/>
            <a:ext cx="95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3F37"/>
          </a:solidFill>
          <a:ln xmlns:a="http://schemas.openxmlformats.org/drawingml/2006/main" w="9525">
            <a:solidFill>
              <a:srgbClr val="4C8071"/>
            </a:solidFill>
            <a:prstDash val="solid"/>
          </a:ln>
        </p:spPr>
      </p:sp>
      <p:sp>
        <p:nvSpPr>
          <p:cNvPr id="29" name="yard">
            <a:extLst xmlns:a="http://schemas.openxmlformats.org/drawingml/2006/main">
              <a:ext uri="{FF2B5EF4-FFF2-40B4-BE49-F238E27FC236}">
                <a16:creationId xmlns:a16="http://schemas.microsoft.com/office/drawing/2014/main" id="{BACA70D4-3620-4F33-BB29-C523081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09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3F37"/>
          </a:solidFill>
          <a:ln xmlns:a="http://schemas.openxmlformats.org/drawingml/2006/main" w="9525">
            <a:solidFill>
              <a:srgbClr val="4C8071"/>
            </a:solidFill>
            <a:prstDash val="solid"/>
          </a:ln>
        </p:spPr>
      </p:sp>
      <p:sp>
        <p:nvSpPr>
          <p:cNvPr id="30" name="gatehouse">
            <a:extLst xmlns:a="http://schemas.openxmlformats.org/drawingml/2006/main">
              <a:ext uri="{FF2B5EF4-FFF2-40B4-BE49-F238E27FC236}">
                <a16:creationId xmlns:a16="http://schemas.microsoft.com/office/drawing/2014/main" id="{2327AA09-A93D-470E-9BB4-A5BE2A79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67100"/>
            <a:ext cx="1200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3F37"/>
          </a:solidFill>
          <a:ln xmlns:a="http://schemas.openxmlformats.org/drawingml/2006/main" w="9525">
            <a:solidFill>
              <a:srgbClr val="4C8071"/>
            </a:solidFill>
            <a:prstDash val="solid"/>
          </a:ln>
        </p:spPr>
      </p:sp>
      <p:sp>
        <p:nvSpPr>
          <p:cNvPr id="31" name="map-label">
            <a:extLst xmlns:a="http://schemas.openxmlformats.org/drawingml/2006/main">
              <a:ext uri="{FF2B5EF4-FFF2-40B4-BE49-F238E27FC236}">
                <a16:creationId xmlns:a16="http://schemas.microsoft.com/office/drawing/2014/main" id="{AD0F0B7F-CAE2-4D63-BF94-CAEF6B89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955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Warehouse</a:t>
            </a:r>
          </a:p>
        </p:txBody>
      </p:sp>
      <p:sp>
        <p:nvSpPr>
          <p:cNvPr id="32" name="map-label">
            <a:extLst xmlns:a="http://schemas.openxmlformats.org/drawingml/2006/main">
              <a:ext uri="{FF2B5EF4-FFF2-40B4-BE49-F238E27FC236}">
                <a16:creationId xmlns:a16="http://schemas.microsoft.com/office/drawing/2014/main" id="{647EA901-40FF-4C6B-96DC-50358A05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33625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Process area</a:t>
            </a:r>
          </a:p>
        </p:txBody>
      </p:sp>
      <p:sp>
        <p:nvSpPr>
          <p:cNvPr id="33" name="map-label">
            <a:extLst xmlns:a="http://schemas.openxmlformats.org/drawingml/2006/main">
              <a:ext uri="{FF2B5EF4-FFF2-40B4-BE49-F238E27FC236}">
                <a16:creationId xmlns:a16="http://schemas.microsoft.com/office/drawing/2014/main" id="{707AF73D-476C-4F6A-A5EF-92DD2F9C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95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Asset yard</a:t>
            </a:r>
          </a:p>
        </p:txBody>
      </p:sp>
      <p:sp>
        <p:nvSpPr>
          <p:cNvPr id="34" name="map-label">
            <a:extLst xmlns:a="http://schemas.openxmlformats.org/drawingml/2006/main">
              <a:ext uri="{FF2B5EF4-FFF2-40B4-BE49-F238E27FC236}">
                <a16:creationId xmlns:a16="http://schemas.microsoft.com/office/drawing/2014/main" id="{E5CC3368-0899-44D8-9E6A-35595808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Gate + SOC</a:t>
            </a:r>
          </a:p>
        </p:txBody>
      </p:sp>
      <p:sp>
        <p:nvSpPr>
          <p:cNvPr id="35" name="map-node">
            <a:extLst xmlns:a="http://schemas.openxmlformats.org/drawingml/2006/main">
              <a:ext uri="{FF2B5EF4-FFF2-40B4-BE49-F238E27FC236}">
                <a16:creationId xmlns:a16="http://schemas.microsoft.com/office/drawing/2014/main" id="{3CA27BEB-FFD1-4137-ACAA-60905B6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33525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8C7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map-node-label">
            <a:extLst xmlns:a="http://schemas.openxmlformats.org/drawingml/2006/main">
              <a:ext uri="{FF2B5EF4-FFF2-40B4-BE49-F238E27FC236}">
                <a16:creationId xmlns:a16="http://schemas.microsoft.com/office/drawing/2014/main" id="{D18DF10E-8076-4C4D-944B-228AF0C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335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EEE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EEE7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37" name="map-node">
            <a:extLst xmlns:a="http://schemas.openxmlformats.org/drawingml/2006/main">
              <a:ext uri="{FF2B5EF4-FFF2-40B4-BE49-F238E27FC236}">
                <a16:creationId xmlns:a16="http://schemas.microsoft.com/office/drawing/2014/main" id="{08DE3307-3065-4D98-9851-37A8B18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5240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B13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map-node-label">
            <a:extLst xmlns:a="http://schemas.openxmlformats.org/drawingml/2006/main">
              <a:ext uri="{FF2B5EF4-FFF2-40B4-BE49-F238E27FC236}">
                <a16:creationId xmlns:a16="http://schemas.microsoft.com/office/drawing/2014/main" id="{177DD506-5FF3-478D-80F1-717C53A0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24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EEE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EEE7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39" name="map-node">
            <a:extLst xmlns:a="http://schemas.openxmlformats.org/drawingml/2006/main">
              <a:ext uri="{FF2B5EF4-FFF2-40B4-BE49-F238E27FC236}">
                <a16:creationId xmlns:a16="http://schemas.microsoft.com/office/drawing/2014/main" id="{7763142C-F79E-4018-9D42-CA1F3D29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81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map-node-label">
            <a:extLst xmlns:a="http://schemas.openxmlformats.org/drawingml/2006/main">
              <a:ext uri="{FF2B5EF4-FFF2-40B4-BE49-F238E27FC236}">
                <a16:creationId xmlns:a16="http://schemas.microsoft.com/office/drawing/2014/main" id="{AC4F9574-9055-491D-8E32-74211AA7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81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EEE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EEE7"/>
                </a:solidFill>
                <a:latin typeface="Aptos"/>
                <a:ea typeface="Aptos"/>
                <a:cs typeface="Aptos"/>
              </a:rPr>
              <a:t>CCTV</a:t>
            </a:r>
          </a:p>
        </p:txBody>
      </p:sp>
      <p:sp>
        <p:nvSpPr>
          <p:cNvPr id="41" name="map-node">
            <a:extLst xmlns:a="http://schemas.openxmlformats.org/drawingml/2006/main">
              <a:ext uri="{FF2B5EF4-FFF2-40B4-BE49-F238E27FC236}">
                <a16:creationId xmlns:a16="http://schemas.microsoft.com/office/drawing/2014/main" id="{6ED41E1E-BBBE-403A-A422-5EB1635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815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5D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map-node-label">
            <a:extLst xmlns:a="http://schemas.openxmlformats.org/drawingml/2006/main">
              <a:ext uri="{FF2B5EF4-FFF2-40B4-BE49-F238E27FC236}">
                <a16:creationId xmlns:a16="http://schemas.microsoft.com/office/drawing/2014/main" id="{50FD3CCF-7A8A-4B1F-9463-7C3738E5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81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8EEE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EEE7"/>
                </a:solidFill>
                <a:latin typeface="Aptos"/>
                <a:ea typeface="Aptos"/>
                <a:cs typeface="Aptos"/>
              </a:rPr>
              <a:t>SOC</a:t>
            </a:r>
          </a:p>
        </p:txBody>
      </p:sp>
      <p:sp>
        <p:nvSpPr>
          <p:cNvPr id="43" name="patrol-line-a">
            <a:extLst xmlns:a="http://schemas.openxmlformats.org/drawingml/2006/main">
              <a:ext uri="{FF2B5EF4-FFF2-40B4-BE49-F238E27FC236}">
                <a16:creationId xmlns:a16="http://schemas.microsoft.com/office/drawing/2014/main" id="{1D847E51-31CF-402A-BA2E-193B1F01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954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44" name="patrol-line-b">
            <a:extLst xmlns:a="http://schemas.openxmlformats.org/drawingml/2006/main">
              <a:ext uri="{FF2B5EF4-FFF2-40B4-BE49-F238E27FC236}">
                <a16:creationId xmlns:a16="http://schemas.microsoft.com/office/drawing/2014/main" id="{9893AC3A-CC18-40EF-9F12-A5F9DDA2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51485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45" name="map-caption">
            <a:extLst xmlns:a="http://schemas.openxmlformats.org/drawingml/2006/main">
              <a:ext uri="{FF2B5EF4-FFF2-40B4-BE49-F238E27FC236}">
                <a16:creationId xmlns:a16="http://schemas.microsoft.com/office/drawing/2014/main" id="{C4513D82-D2A6-4DF9-A842-41988093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054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8EE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EE7"/>
                </a:solidFill>
                <a:latin typeface="Aptos"/>
                <a:ea typeface="Aptos"/>
                <a:cs typeface="Aptos"/>
              </a:rPr>
              <a:t>drones + fixed cameras + enterprise signals</a:t>
            </a:r>
          </a:p>
        </p:txBody>
      </p:sp>
      <p:sp>
        <p:nvSpPr>
          <p:cNvPr id="4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387E15D-5B99-4A59-97CF-CF4DD157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146"/>
          </a:solidFill>
          <a:ln xmlns:a="http://schemas.openxmlformats.org/drawingml/2006/main" w="0">
            <a:solidFill>
              <a:srgbClr val="2F5146"/>
            </a:solidFill>
            <a:prstDash val="solid"/>
          </a:ln>
        </p:spPr>
      </p:sp>
      <p:sp>
        <p:nvSpPr>
          <p:cNvPr id="4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D8DD03-4386-43AE-BFD1-6A21BA06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E5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5DC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4342F7A-1D8B-4713-B19C-489C89F6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FE5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E5DC"/>
                </a:solidFill>
                <a:latin typeface="Aptos"/>
                <a:ea typeface="Aptos"/>
                <a:cs typeface="Aptos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2130356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43FC51-AB73-498A-9096-D858D4CB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1"/>
          </a:solidFill>
          <a:ln xmlns:a="http://schemas.openxmlformats.org/drawingml/2006/main" w="0">
            <a:solidFill>
              <a:srgbClr val="F5F7F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B0F1777-AAA7-44CF-935B-CDBB9425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7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37AA49-A71F-4386-A477-2207DF5D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rPr>
              <a:t>Large enterprise sites lose time when surveillance stays fragmented.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8141086-8F4F-488A-A97B-1172A80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Security teams have cameras, patrols and alarms. The missing layer is connected intelligence across the full site.</a:t>
            </a:r>
          </a:p>
        </p:txBody>
      </p:sp>
      <p:sp>
        <p:nvSpPr>
          <p:cNvPr id="5" name="pain-panel">
            <a:extLst xmlns:a="http://schemas.openxmlformats.org/drawingml/2006/main">
              <a:ext uri="{FF2B5EF4-FFF2-40B4-BE49-F238E27FC236}">
                <a16:creationId xmlns:a16="http://schemas.microsoft.com/office/drawing/2014/main" id="{1FBEFB7F-AC81-4780-9FD1-3DB50845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8577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6" name="pain-heading">
            <a:extLst xmlns:a="http://schemas.openxmlformats.org/drawingml/2006/main">
              <a:ext uri="{FF2B5EF4-FFF2-40B4-BE49-F238E27FC236}">
                <a16:creationId xmlns:a16="http://schemas.microsoft.com/office/drawing/2014/main" id="{7854E21F-B314-4FE9-9581-5CD3D41A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Where monitoring breaks down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9B63B70A-C730-49E9-9089-6E0E66BE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7AE0A07C-4DEA-4706-B35E-C85BA469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Perimeter blind spots across warehouses, utilities, campuses and yards.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B2BC1973-31A2-4202-B759-A2500C60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75D0155-DD4F-4CDF-B9DC-EE2FF4C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Manual patrols expose guards to remote, night or high-risk zones.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62AEE391-4269-47CC-B526-041CFD9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FB0B935-62D7-48D4-8ED6-ED2354DA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CCTV overload creates late alerts, missed evidence and slow triage.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EEB12A1C-CF1F-4402-92C2-67C193EE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14" name="bullet-text">
            <a:extLst xmlns:a="http://schemas.openxmlformats.org/drawingml/2006/main">
              <a:ext uri="{FF2B5EF4-FFF2-40B4-BE49-F238E27FC236}">
                <a16:creationId xmlns:a16="http://schemas.microsoft.com/office/drawing/2014/main" id="{84841632-A4F7-46CD-9C11-03BE3A87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Security, EHS, facilities and command teams work from separate systems.</a:t>
            </a:r>
          </a:p>
        </p:txBody>
      </p:sp>
      <p:sp>
        <p:nvSpPr>
          <p:cNvPr id="15" name="signal-heading">
            <a:extLst xmlns:a="http://schemas.openxmlformats.org/drawingml/2006/main">
              <a:ext uri="{FF2B5EF4-FFF2-40B4-BE49-F238E27FC236}">
                <a16:creationId xmlns:a16="http://schemas.microsoft.com/office/drawing/2014/main" id="{CFC6BDCB-0A99-4239-9F7C-89C4C973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Signal loss before response</a:t>
            </a:r>
          </a:p>
        </p:txBody>
      </p:sp>
      <p:sp>
        <p:nvSpPr>
          <p:cNvPr id="16" name="funnel-bar">
            <a:extLst xmlns:a="http://schemas.openxmlformats.org/drawingml/2006/main">
              <a:ext uri="{FF2B5EF4-FFF2-40B4-BE49-F238E27FC236}">
                <a16:creationId xmlns:a16="http://schemas.microsoft.com/office/drawing/2014/main" id="{59E0E677-BBC6-4EFD-87DE-CFFAE791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7" name="funnel-label">
            <a:extLst xmlns:a="http://schemas.openxmlformats.org/drawingml/2006/main">
              <a:ext uri="{FF2B5EF4-FFF2-40B4-BE49-F238E27FC236}">
                <a16:creationId xmlns:a16="http://schemas.microsoft.com/office/drawing/2014/main" id="{A96DE203-A291-4EEA-A14A-8563EBA9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365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Camera feeds + patrol notes</a:t>
            </a:r>
          </a:p>
        </p:txBody>
      </p:sp>
      <p:sp>
        <p:nvSpPr>
          <p:cNvPr id="18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39B5B965-DF89-4B9F-9E9D-B679C5FA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099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19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2D8E724A-3A6B-4888-AED8-1B6E9370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718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0" name="funnel-bar">
            <a:extLst xmlns:a="http://schemas.openxmlformats.org/drawingml/2006/main">
              <a:ext uri="{FF2B5EF4-FFF2-40B4-BE49-F238E27FC236}">
                <a16:creationId xmlns:a16="http://schemas.microsoft.com/office/drawing/2014/main" id="{9C18F5AE-DCE0-46A0-85AA-86C746B8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31908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21" name="funnel-label">
            <a:extLst xmlns:a="http://schemas.openxmlformats.org/drawingml/2006/main">
              <a:ext uri="{FF2B5EF4-FFF2-40B4-BE49-F238E27FC236}">
                <a16:creationId xmlns:a16="http://schemas.microsoft.com/office/drawing/2014/main" id="{E199EE30-3695-438C-948F-8D419CCC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2847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Motion/noise requiring review</a:t>
            </a:r>
          </a:p>
        </p:txBody>
      </p:sp>
      <p:sp>
        <p:nvSpPr>
          <p:cNvPr id="22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996E0551-11FF-4D56-8BC6-957AE049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3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56A448B2-75F5-4701-8D6D-A13ADF67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4" name="funnel-bar">
            <a:extLst xmlns:a="http://schemas.openxmlformats.org/drawingml/2006/main">
              <a:ext uri="{FF2B5EF4-FFF2-40B4-BE49-F238E27FC236}">
                <a16:creationId xmlns:a16="http://schemas.microsoft.com/office/drawing/2014/main" id="{832FFB0C-0556-44FE-AB88-6C9FE2D2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25" name="funnel-label">
            <a:extLst xmlns:a="http://schemas.openxmlformats.org/drawingml/2006/main">
              <a:ext uri="{FF2B5EF4-FFF2-40B4-BE49-F238E27FC236}">
                <a16:creationId xmlns:a16="http://schemas.microsoft.com/office/drawing/2014/main" id="{0A4A8636-993D-4262-B332-C1C4106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053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Verified incident with context</a:t>
            </a:r>
          </a:p>
        </p:txBody>
      </p:sp>
      <p:sp>
        <p:nvSpPr>
          <p:cNvPr id="26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34ABD42E-8953-4279-B686-55864567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434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7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5CB5A3D6-6CC5-4127-95FF-8BBA8A7B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053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8" name="funnel-bar">
            <a:extLst xmlns:a="http://schemas.openxmlformats.org/drawingml/2006/main">
              <a:ext uri="{FF2B5EF4-FFF2-40B4-BE49-F238E27FC236}">
                <a16:creationId xmlns:a16="http://schemas.microsoft.com/office/drawing/2014/main" id="{A2BCF03F-563E-4ED7-8782-37E4647D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29" name="funnel-label">
            <a:extLst xmlns:a="http://schemas.openxmlformats.org/drawingml/2006/main">
              <a:ext uri="{FF2B5EF4-FFF2-40B4-BE49-F238E27FC236}">
                <a16:creationId xmlns:a16="http://schemas.microsoft.com/office/drawing/2014/main" id="{25C4E64D-20ED-48B8-A4EA-D53AF99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720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Actionable response</a:t>
            </a:r>
          </a:p>
        </p:txBody>
      </p:sp>
      <p:sp>
        <p:nvSpPr>
          <p:cNvPr id="30" name="risk-axis">
            <a:extLst xmlns:a="http://schemas.openxmlformats.org/drawingml/2006/main">
              <a:ext uri="{FF2B5EF4-FFF2-40B4-BE49-F238E27FC236}">
                <a16:creationId xmlns:a16="http://schemas.microsoft.com/office/drawing/2014/main" id="{18008AE5-A641-4E34-82C4-BD08FFA8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24150"/>
            <a:ext cx="381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31" name="bottleneck-label">
            <a:extLst xmlns:a="http://schemas.openxmlformats.org/drawingml/2006/main">
              <a:ext uri="{FF2B5EF4-FFF2-40B4-BE49-F238E27FC236}">
                <a16:creationId xmlns:a16="http://schemas.microsoft.com/office/drawing/2014/main" id="{367386E6-99B3-474E-BDDC-26FF7CD5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67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F66"/>
                </a:solidFill>
                <a:latin typeface="Aptos"/>
                <a:ea typeface="Aptos"/>
                <a:cs typeface="Aptos"/>
              </a:rPr>
              <a:t>human attention bottleneck</a:t>
            </a:r>
          </a:p>
        </p:txBody>
      </p:sp>
      <p:sp>
        <p:nvSpPr>
          <p:cNvPr id="32" name="problem-note">
            <a:extLst xmlns:a="http://schemas.openxmlformats.org/drawingml/2006/main">
              <a:ext uri="{FF2B5EF4-FFF2-40B4-BE49-F238E27FC236}">
                <a16:creationId xmlns:a16="http://schemas.microsoft.com/office/drawing/2014/main" id="{4BD9B0C8-DD31-4C60-A98D-E3822B0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closes the gap by adding context before humans are asked to respond.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459A302-5DBE-480F-A221-CADE8741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BB5041-8F06-4EA7-A0FA-0EAAC846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3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95BCD3-F6BF-418B-8FA0-B245653C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F66"/>
                </a:solidFill>
                <a:latin typeface="Aptos"/>
                <a:ea typeface="Aptos"/>
                <a:cs typeface="Aptos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5694948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FBC8F20-8749-4FDF-81DD-3FE5CB28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1"/>
          </a:solidFill>
          <a:ln xmlns:a="http://schemas.openxmlformats.org/drawingml/2006/main" w="0">
            <a:solidFill>
              <a:srgbClr val="F5F7F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69C7405-B6AC-4267-8BB0-D08B3274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7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E8AE6F-79CD-4B99-8FB6-6EAEEEB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42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rPr>
              <a:t>Air Secure fuses drone patrols, cameras and enterprise events into one alert pipeline.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528183B-23C2-40AA-912F-0C902A25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 connected system makes the drone another intelligent sensor in the enterprise security fabric.</a:t>
            </a:r>
          </a:p>
        </p:txBody>
      </p:sp>
      <p:sp>
        <p:nvSpPr>
          <p:cNvPr id="5" name="stage-panel">
            <a:extLst xmlns:a="http://schemas.openxmlformats.org/drawingml/2006/main">
              <a:ext uri="{FF2B5EF4-FFF2-40B4-BE49-F238E27FC236}">
                <a16:creationId xmlns:a16="http://schemas.microsoft.com/office/drawing/2014/main" id="{CB0E379C-8DD9-4249-A64B-241746F8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6" name="stage-index">
            <a:extLst xmlns:a="http://schemas.openxmlformats.org/drawingml/2006/main">
              <a:ext uri="{FF2B5EF4-FFF2-40B4-BE49-F238E27FC236}">
                <a16:creationId xmlns:a16="http://schemas.microsoft.com/office/drawing/2014/main" id="{2DF420E8-014C-4060-8F6F-060F106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7" name="stage-index-text">
            <a:extLst xmlns:a="http://schemas.openxmlformats.org/drawingml/2006/main">
              <a:ext uri="{FF2B5EF4-FFF2-40B4-BE49-F238E27FC236}">
                <a16:creationId xmlns:a16="http://schemas.microsoft.com/office/drawing/2014/main" id="{A921DF64-FFE3-4A9B-8161-8A4D961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30AE85B-2E31-4C0F-9045-C0D85E7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Sensor fabric</a:t>
            </a:r>
          </a:p>
        </p:txBody>
      </p:sp>
      <p:sp>
        <p:nvSpPr>
          <p:cNvPr id="9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0F425D7A-95C6-442A-9EEC-AEB61B6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Autonomous drone video, CCTV/NVR feeds, gate/access events, IoT perimeter sensors and patrol checkpoints.</a:t>
            </a:r>
          </a:p>
        </p:txBody>
      </p:sp>
      <p:sp>
        <p:nvSpPr>
          <p:cNvPr id="10" name="stage-panel">
            <a:extLst xmlns:a="http://schemas.openxmlformats.org/drawingml/2006/main">
              <a:ext uri="{FF2B5EF4-FFF2-40B4-BE49-F238E27FC236}">
                <a16:creationId xmlns:a16="http://schemas.microsoft.com/office/drawing/2014/main" id="{C5A29A2B-2EF5-4BFA-AD95-F27BE81A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1" name="stage-index">
            <a:extLst xmlns:a="http://schemas.openxmlformats.org/drawingml/2006/main">
              <a:ext uri="{FF2B5EF4-FFF2-40B4-BE49-F238E27FC236}">
                <a16:creationId xmlns:a16="http://schemas.microsoft.com/office/drawing/2014/main" id="{C020EA6E-F6DD-4421-8BAF-025FF6F8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12" name="stage-index-text">
            <a:extLst xmlns:a="http://schemas.openxmlformats.org/drawingml/2006/main">
              <a:ext uri="{FF2B5EF4-FFF2-40B4-BE49-F238E27FC236}">
                <a16:creationId xmlns:a16="http://schemas.microsoft.com/office/drawing/2014/main" id="{E12A3BEF-91E2-4B06-B851-FF4D289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81BC886-A92B-4F11-87C8-733499BE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193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Edge intelligence</a:t>
            </a:r>
          </a:p>
        </p:txBody>
      </p:sp>
      <p:sp>
        <p:nvSpPr>
          <p:cNvPr id="14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73C03906-6698-44BA-BA19-73AFB360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337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Frame sampling, background subtraction, object/contour detection, vision captions and confidence scoring.</a:t>
            </a:r>
          </a:p>
        </p:txBody>
      </p:sp>
      <p:sp>
        <p:nvSpPr>
          <p:cNvPr id="15" name="stage-panel">
            <a:extLst xmlns:a="http://schemas.openxmlformats.org/drawingml/2006/main">
              <a:ext uri="{FF2B5EF4-FFF2-40B4-BE49-F238E27FC236}">
                <a16:creationId xmlns:a16="http://schemas.microsoft.com/office/drawing/2014/main" id="{CE756F78-2769-4E61-B94E-0B34B1B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6" name="stage-index">
            <a:extLst xmlns:a="http://schemas.openxmlformats.org/drawingml/2006/main">
              <a:ext uri="{FF2B5EF4-FFF2-40B4-BE49-F238E27FC236}">
                <a16:creationId xmlns:a16="http://schemas.microsoft.com/office/drawing/2014/main" id="{5FA56409-AEF5-4ABE-9D95-01CC101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28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17" name="stage-index-text">
            <a:extLst xmlns:a="http://schemas.openxmlformats.org/drawingml/2006/main">
              <a:ext uri="{FF2B5EF4-FFF2-40B4-BE49-F238E27FC236}">
                <a16:creationId xmlns:a16="http://schemas.microsoft.com/office/drawing/2014/main" id="{6DBBF7F7-25F1-4DD1-8C28-A85B037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37645D5-1D20-4FBE-8E21-4EA78049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Context + rules</a:t>
            </a:r>
          </a:p>
        </p:txBody>
      </p:sp>
      <p:sp>
        <p:nvSpPr>
          <p:cNvPr id="19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A789890E-8A69-4167-9556-E42E208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Geofences, shift schedules, asset criticality, night-mode rules, dwell thresholds and severity logic.</a:t>
            </a:r>
          </a:p>
        </p:txBody>
      </p:sp>
      <p:sp>
        <p:nvSpPr>
          <p:cNvPr id="20" name="stage-panel">
            <a:extLst xmlns:a="http://schemas.openxmlformats.org/drawingml/2006/main">
              <a:ext uri="{FF2B5EF4-FFF2-40B4-BE49-F238E27FC236}">
                <a16:creationId xmlns:a16="http://schemas.microsoft.com/office/drawing/2014/main" id="{AB5B9F27-F1A4-4242-8F2A-C9E4DE50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21" name="stage-index">
            <a:extLst xmlns:a="http://schemas.openxmlformats.org/drawingml/2006/main">
              <a:ext uri="{FF2B5EF4-FFF2-40B4-BE49-F238E27FC236}">
                <a16:creationId xmlns:a16="http://schemas.microsoft.com/office/drawing/2014/main" id="{B8DEE11A-2184-4AD8-BC0A-80D4D31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22" name="stage-index-text">
            <a:extLst xmlns:a="http://schemas.openxmlformats.org/drawingml/2006/main">
              <a:ext uri="{FF2B5EF4-FFF2-40B4-BE49-F238E27FC236}">
                <a16:creationId xmlns:a16="http://schemas.microsoft.com/office/drawing/2014/main" id="{AFA6F405-6F0E-4EFD-98C9-F0F5D98F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stage-label">
            <a:extLst xmlns:a="http://schemas.openxmlformats.org/drawingml/2006/main">
              <a:ext uri="{FF2B5EF4-FFF2-40B4-BE49-F238E27FC236}">
                <a16:creationId xmlns:a16="http://schemas.microsoft.com/office/drawing/2014/main" id="{228A807E-2DA6-44EB-817D-264D8744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193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Response system</a:t>
            </a:r>
          </a:p>
        </p:txBody>
      </p:sp>
      <p:sp>
        <p:nvSpPr>
          <p:cNvPr id="24" name="stage-detail">
            <a:extLst xmlns:a="http://schemas.openxmlformats.org/drawingml/2006/main">
              <a:ext uri="{FF2B5EF4-FFF2-40B4-BE49-F238E27FC236}">
                <a16:creationId xmlns:a16="http://schemas.microsoft.com/office/drawing/2014/main" id="{EB721C33-53D4-4981-BE03-717D1A23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Telegram or SOC alerts, incident log, evidence package, semantic search and enterprise escalation.</a:t>
            </a:r>
          </a:p>
        </p:txBody>
      </p:sp>
      <p:sp>
        <p:nvSpPr>
          <p:cNvPr id="25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654AC7EE-FCA7-43D9-8D0A-C3E2273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26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C84883C9-383D-4C6B-B962-C6F77386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5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27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040DF972-382B-424B-BEEF-6D136998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43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28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7C3E84B2-A5FD-4D39-B0E7-6205D14B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05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29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A12C024F-9A2E-4BDB-8715-4440D2E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30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BA8FC383-8151-4FD9-A9D7-799CE24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31" name="privacy-panel">
            <a:extLst xmlns:a="http://schemas.openxmlformats.org/drawingml/2006/main">
              <a:ext uri="{FF2B5EF4-FFF2-40B4-BE49-F238E27FC236}">
                <a16:creationId xmlns:a16="http://schemas.microsoft.com/office/drawing/2014/main" id="{A34A6578-6B9E-4713-91A2-EBBCFC7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4476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FDCCE"/>
            </a:solidFill>
            <a:prstDash val="solid"/>
          </a:ln>
        </p:spPr>
      </p:sp>
      <p:sp>
        <p:nvSpPr>
          <p:cNvPr id="32" name="control-accent">
            <a:extLst xmlns:a="http://schemas.openxmlformats.org/drawingml/2006/main">
              <a:ext uri="{FF2B5EF4-FFF2-40B4-BE49-F238E27FC236}">
                <a16:creationId xmlns:a16="http://schemas.microsoft.com/office/drawing/2014/main" id="{E4B68794-B26D-465A-AE08-B821832D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38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33" name="guard-title">
            <a:extLst xmlns:a="http://schemas.openxmlformats.org/drawingml/2006/main">
              <a:ext uri="{FF2B5EF4-FFF2-40B4-BE49-F238E27FC236}">
                <a16:creationId xmlns:a16="http://schemas.microsoft.com/office/drawing/2014/main" id="{E2BBEE52-0C8A-4E5B-B5E0-33CE4906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Security guardrails</a:t>
            </a:r>
          </a:p>
        </p:txBody>
      </p:sp>
      <p:sp>
        <p:nvSpPr>
          <p:cNvPr id="34" name="guard-detail">
            <a:extLst xmlns:a="http://schemas.openxmlformats.org/drawingml/2006/main">
              <a:ext uri="{FF2B5EF4-FFF2-40B4-BE49-F238E27FC236}">
                <a16:creationId xmlns:a16="http://schemas.microsoft.com/office/drawing/2014/main" id="{BFC64686-FEF2-4BB9-B021-30EC718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RBAC, audit logs, retention policies and privacy zones keep surveillance governed.</a:t>
            </a:r>
          </a:p>
        </p:txBody>
      </p:sp>
      <p:sp>
        <p:nvSpPr>
          <p:cNvPr id="35" name="integration-panel">
            <a:extLst xmlns:a="http://schemas.openxmlformats.org/drawingml/2006/main">
              <a:ext uri="{FF2B5EF4-FFF2-40B4-BE49-F238E27FC236}">
                <a16:creationId xmlns:a16="http://schemas.microsoft.com/office/drawing/2014/main" id="{347E8872-6E0C-4A0C-8B42-3AA969A7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29200"/>
            <a:ext cx="4857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0"/>
          </a:solidFill>
          <a:ln xmlns:a="http://schemas.openxmlformats.org/drawingml/2006/main" w="9525">
            <a:solidFill>
              <a:srgbClr val="EAD19A"/>
            </a:solidFill>
            <a:prstDash val="solid"/>
          </a:ln>
        </p:spPr>
      </p:sp>
      <p:sp>
        <p:nvSpPr>
          <p:cNvPr id="36" name="integration-accent">
            <a:extLst xmlns:a="http://schemas.openxmlformats.org/drawingml/2006/main">
              <a:ext uri="{FF2B5EF4-FFF2-40B4-BE49-F238E27FC236}">
                <a16:creationId xmlns:a16="http://schemas.microsoft.com/office/drawing/2014/main" id="{B190EF43-D303-49EC-A29D-5ACD08F0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38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37" name="integration-title">
            <a:extLst xmlns:a="http://schemas.openxmlformats.org/drawingml/2006/main">
              <a:ext uri="{FF2B5EF4-FFF2-40B4-BE49-F238E27FC236}">
                <a16:creationId xmlns:a16="http://schemas.microsoft.com/office/drawing/2014/main" id="{806FAC92-F59D-4134-B2A8-D2879191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Enterprise integration path</a:t>
            </a:r>
          </a:p>
        </p:txBody>
      </p:sp>
      <p:sp>
        <p:nvSpPr>
          <p:cNvPr id="38" name="integration-detail">
            <a:extLst xmlns:a="http://schemas.openxmlformats.org/drawingml/2006/main">
              <a:ext uri="{FF2B5EF4-FFF2-40B4-BE49-F238E27FC236}">
                <a16:creationId xmlns:a16="http://schemas.microsoft.com/office/drawing/2014/main" id="{A4F7199F-5E51-49CA-8D3E-2F1CE32C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Connect alerts to SOC tools, ticketing, facility ops and cross-site risk reporting.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0AEAE4C-BC05-4E0D-A574-43C71E95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4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54E0066-106F-4475-BFD4-21D1AFE4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4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40D490-551D-4018-A170-9275B77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F66"/>
                </a:solidFill>
                <a:latin typeface="Aptos"/>
                <a:ea typeface="Aptos"/>
                <a:cs typeface="Aptos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21360917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0386BF-A448-430C-B932-E14E035E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1"/>
          </a:solidFill>
          <a:ln xmlns:a="http://schemas.openxmlformats.org/drawingml/2006/main" w="0">
            <a:solidFill>
              <a:srgbClr val="F5F7F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503FC7F-5715-4C60-9D8C-940093B1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78"/>
                </a:solidFill>
                <a:latin typeface="Aptos"/>
                <a:ea typeface="Aptos"/>
                <a:cs typeface="Aptos"/>
              </a:rPr>
              <a:t>MONITORING LOOP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F82F45-D2D3-4B71-99EA-E6665D0F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rPr>
              <a:t>The monitoring loop prioritizes what humans should act on.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66CC1C8-F8A5-4ECB-9A73-AFA208AF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converts raw motion into an incident with severity, context, evidence and next action.</a:t>
            </a:r>
          </a:p>
        </p:txBody>
      </p:sp>
      <p:sp>
        <p:nvSpPr>
          <p:cNvPr id="5" name="loop-step">
            <a:extLst xmlns:a="http://schemas.openxmlformats.org/drawingml/2006/main">
              <a:ext uri="{FF2B5EF4-FFF2-40B4-BE49-F238E27FC236}">
                <a16:creationId xmlns:a16="http://schemas.microsoft.com/office/drawing/2014/main" id="{E152B2EB-15FD-4339-8681-9BDFBC0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123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6" name="loop-number">
            <a:extLst xmlns:a="http://schemas.openxmlformats.org/drawingml/2006/main">
              <a:ext uri="{FF2B5EF4-FFF2-40B4-BE49-F238E27FC236}">
                <a16:creationId xmlns:a16="http://schemas.microsoft.com/office/drawing/2014/main" id="{F4A4BBAF-5DC3-4B1D-B1D5-A92B3DD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loop-label">
            <a:extLst xmlns:a="http://schemas.openxmlformats.org/drawingml/2006/main">
              <a:ext uri="{FF2B5EF4-FFF2-40B4-BE49-F238E27FC236}">
                <a16:creationId xmlns:a16="http://schemas.microsoft.com/office/drawing/2014/main" id="{1A104DA0-F51B-4151-8D31-34F369E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8" name="loop-detail">
            <a:extLst xmlns:a="http://schemas.openxmlformats.org/drawingml/2006/main">
              <a:ext uri="{FF2B5EF4-FFF2-40B4-BE49-F238E27FC236}">
                <a16:creationId xmlns:a16="http://schemas.microsoft.com/office/drawing/2014/main" id="{6F39A475-3EB1-456F-AA6E-61E0A489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Drone/CCTV frames reveal motion or activity.</a:t>
            </a:r>
          </a:p>
        </p:txBody>
      </p:sp>
      <p:sp>
        <p:nvSpPr>
          <p:cNvPr id="9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60318D39-A16C-43A9-9702-49354A8A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575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10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0BBB87FC-B93D-4510-9B53-E673022B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19425"/>
            <a:ext cx="76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11" name="loop-step">
            <a:extLst xmlns:a="http://schemas.openxmlformats.org/drawingml/2006/main">
              <a:ext uri="{FF2B5EF4-FFF2-40B4-BE49-F238E27FC236}">
                <a16:creationId xmlns:a16="http://schemas.microsoft.com/office/drawing/2014/main" id="{F83F89A8-7337-4699-A318-5AA837BB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95550"/>
            <a:ext cx="1123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F8F4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2" name="loop-number">
            <a:extLst xmlns:a="http://schemas.openxmlformats.org/drawingml/2006/main">
              <a:ext uri="{FF2B5EF4-FFF2-40B4-BE49-F238E27FC236}">
                <a16:creationId xmlns:a16="http://schemas.microsoft.com/office/drawing/2014/main" id="{2B37AE48-1F85-4462-AFF4-627463AA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7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loop-label">
            <a:extLst xmlns:a="http://schemas.openxmlformats.org/drawingml/2006/main">
              <a:ext uri="{FF2B5EF4-FFF2-40B4-BE49-F238E27FC236}">
                <a16:creationId xmlns:a16="http://schemas.microsoft.com/office/drawing/2014/main" id="{8E9D5F42-F3CF-4A7F-BAA9-70972ADA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14" name="loop-detail">
            <a:extLst xmlns:a="http://schemas.openxmlformats.org/drawingml/2006/main">
              <a:ext uri="{FF2B5EF4-FFF2-40B4-BE49-F238E27FC236}">
                <a16:creationId xmlns:a16="http://schemas.microsoft.com/office/drawing/2014/main" id="{026D023A-2705-4D52-9F50-DEB658C0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2420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Vision captioning identifies person, vehicle or anomaly.</a:t>
            </a:r>
          </a:p>
        </p:txBody>
      </p:sp>
      <p:sp>
        <p:nvSpPr>
          <p:cNvPr id="15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491F46DA-A4E2-48FA-9B23-05E3DD81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575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16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AD54E502-CCD4-4FE4-B873-99DEEC26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19425"/>
            <a:ext cx="76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17" name="loop-step">
            <a:extLst xmlns:a="http://schemas.openxmlformats.org/drawingml/2006/main">
              <a:ext uri="{FF2B5EF4-FFF2-40B4-BE49-F238E27FC236}">
                <a16:creationId xmlns:a16="http://schemas.microsoft.com/office/drawing/2014/main" id="{558ADB47-AFD3-45E2-A7DA-C7C9B285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95550"/>
            <a:ext cx="1123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8" name="loop-number">
            <a:extLst xmlns:a="http://schemas.openxmlformats.org/drawingml/2006/main">
              <a:ext uri="{FF2B5EF4-FFF2-40B4-BE49-F238E27FC236}">
                <a16:creationId xmlns:a16="http://schemas.microsoft.com/office/drawing/2014/main" id="{2D554443-8E40-4BE0-B6C5-D481FF38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1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B13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loop-label">
            <a:extLst xmlns:a="http://schemas.openxmlformats.org/drawingml/2006/main">
              <a:ext uri="{FF2B5EF4-FFF2-40B4-BE49-F238E27FC236}">
                <a16:creationId xmlns:a16="http://schemas.microsoft.com/office/drawing/2014/main" id="{41C6372A-CE02-462B-94D5-AA426323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Correlate</a:t>
            </a:r>
          </a:p>
        </p:txBody>
      </p:sp>
      <p:sp>
        <p:nvSpPr>
          <p:cNvPr id="20" name="loop-detail">
            <a:extLst xmlns:a="http://schemas.openxmlformats.org/drawingml/2006/main">
              <a:ext uri="{FF2B5EF4-FFF2-40B4-BE49-F238E27FC236}">
                <a16:creationId xmlns:a16="http://schemas.microsoft.com/office/drawing/2014/main" id="{DAE1B12F-5888-4D1C-839D-A2F9AA56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Rules apply zone, time, dwell and asset context.</a:t>
            </a:r>
          </a:p>
        </p:txBody>
      </p:sp>
      <p:sp>
        <p:nvSpPr>
          <p:cNvPr id="21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04FE6878-0C89-4C9D-B474-50BF5FDC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5752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2" name="connector-end">
            <a:extLst xmlns:a="http://schemas.openxmlformats.org/drawingml/2006/main">
              <a:ext uri="{FF2B5EF4-FFF2-40B4-BE49-F238E27FC236}">
                <a16:creationId xmlns:a16="http://schemas.microsoft.com/office/drawing/2014/main" id="{4EEFD435-9A6B-4ECD-BE05-CC9ACAC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19425"/>
            <a:ext cx="762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3" name="loop-step">
            <a:extLst xmlns:a="http://schemas.openxmlformats.org/drawingml/2006/main">
              <a:ext uri="{FF2B5EF4-FFF2-40B4-BE49-F238E27FC236}">
                <a16:creationId xmlns:a16="http://schemas.microsoft.com/office/drawing/2014/main" id="{1F3A8CAA-4B11-4EA0-9821-FAE37B2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1123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F8F4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24" name="loop-number">
            <a:extLst xmlns:a="http://schemas.openxmlformats.org/drawingml/2006/main">
              <a:ext uri="{FF2B5EF4-FFF2-40B4-BE49-F238E27FC236}">
                <a16:creationId xmlns:a16="http://schemas.microsoft.com/office/drawing/2014/main" id="{1F1515EF-40A5-452E-85EA-E16255B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5D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5D4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loop-label">
            <a:extLst xmlns:a="http://schemas.openxmlformats.org/drawingml/2006/main">
              <a:ext uri="{FF2B5EF4-FFF2-40B4-BE49-F238E27FC236}">
                <a16:creationId xmlns:a16="http://schemas.microsoft.com/office/drawing/2014/main" id="{01995C39-B8E1-4863-8833-359C9731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Alert</a:t>
            </a:r>
          </a:p>
        </p:txBody>
      </p:sp>
      <p:sp>
        <p:nvSpPr>
          <p:cNvPr id="26" name="loop-detail">
            <a:extLst xmlns:a="http://schemas.openxmlformats.org/drawingml/2006/main">
              <a:ext uri="{FF2B5EF4-FFF2-40B4-BE49-F238E27FC236}">
                <a16:creationId xmlns:a16="http://schemas.microsoft.com/office/drawing/2014/main" id="{791AAE14-177D-4DCC-9CAB-0B1AD93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Verified incidents route to the right response channel.</a:t>
            </a:r>
          </a:p>
        </p:txBody>
      </p:sp>
      <p:sp>
        <p:nvSpPr>
          <p:cNvPr id="27" name="rule-panel">
            <a:extLst xmlns:a="http://schemas.openxmlformats.org/drawingml/2006/main">
              <a:ext uri="{FF2B5EF4-FFF2-40B4-BE49-F238E27FC236}">
                <a16:creationId xmlns:a16="http://schemas.microsoft.com/office/drawing/2014/main" id="{A28A82D2-28E4-4BC2-BBC7-395232F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7912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42923"/>
          </a:solidFill>
          <a:ln xmlns:a="http://schemas.openxmlformats.org/drawingml/2006/main" w="9525">
            <a:solidFill>
              <a:srgbClr val="2F5146"/>
            </a:solidFill>
            <a:prstDash val="solid"/>
          </a:ln>
        </p:spPr>
      </p:sp>
      <p:sp>
        <p:nvSpPr>
          <p:cNvPr id="28" name="rule-title">
            <a:extLst xmlns:a="http://schemas.openxmlformats.org/drawingml/2006/main">
              <a:ext uri="{FF2B5EF4-FFF2-40B4-BE49-F238E27FC236}">
                <a16:creationId xmlns:a16="http://schemas.microsoft.com/office/drawing/2014/main" id="{3400334D-747D-4663-8428-E3D67FAB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 severity logic from demo</a:t>
            </a:r>
          </a:p>
        </p:txBody>
      </p:sp>
      <p:sp>
        <p:nvSpPr>
          <p:cNvPr id="29" name="pill-bg">
            <a:extLst xmlns:a="http://schemas.openxmlformats.org/drawingml/2006/main">
              <a:ext uri="{FF2B5EF4-FFF2-40B4-BE49-F238E27FC236}">
                <a16:creationId xmlns:a16="http://schemas.microsoft.com/office/drawing/2014/main" id="{0E2CE9EE-EF2E-4017-A6A4-4135A529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076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4C41"/>
          </a:solidFill>
          <a:ln xmlns:a="http://schemas.openxmlformats.org/drawingml/2006/main" w="9525">
            <a:solidFill>
              <a:srgbClr val="397065"/>
            </a:solidFill>
            <a:prstDash val="solid"/>
          </a:ln>
        </p:spPr>
      </p:sp>
      <p:sp>
        <p:nvSpPr>
          <p:cNvPr id="30" name="pill-label">
            <a:extLst xmlns:a="http://schemas.openxmlformats.org/drawingml/2006/main">
              <a:ext uri="{FF2B5EF4-FFF2-40B4-BE49-F238E27FC236}">
                <a16:creationId xmlns:a16="http://schemas.microsoft.com/office/drawing/2014/main" id="{4DF673AD-B67F-4BFC-959F-7366C733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EEB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EBDD"/>
                </a:solidFill>
                <a:latin typeface="Aptos"/>
                <a:ea typeface="Aptos"/>
                <a:cs typeface="Aptos"/>
              </a:rPr>
              <a:t>person movement at night = high</a:t>
            </a:r>
          </a:p>
        </p:txBody>
      </p:sp>
      <p:sp>
        <p:nvSpPr>
          <p:cNvPr id="31" name="pill-bg">
            <a:extLst xmlns:a="http://schemas.openxmlformats.org/drawingml/2006/main">
              <a:ext uri="{FF2B5EF4-FFF2-40B4-BE49-F238E27FC236}">
                <a16:creationId xmlns:a16="http://schemas.microsoft.com/office/drawing/2014/main" id="{F649653B-721A-439F-AF63-3D75CF20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2114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3920"/>
          </a:solidFill>
          <a:ln xmlns:a="http://schemas.openxmlformats.org/drawingml/2006/main" w="9525">
            <a:solidFill>
              <a:srgbClr val="77572B"/>
            </a:solidFill>
            <a:prstDash val="solid"/>
          </a:ln>
        </p:spPr>
      </p:sp>
      <p:sp>
        <p:nvSpPr>
          <p:cNvPr id="32" name="pill-label">
            <a:extLst xmlns:a="http://schemas.openxmlformats.org/drawingml/2006/main">
              <a:ext uri="{FF2B5EF4-FFF2-40B4-BE49-F238E27FC236}">
                <a16:creationId xmlns:a16="http://schemas.microsoft.com/office/drawing/2014/main" id="{FC605575-43A6-4555-82E4-CCE3112A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387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E3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3AE"/>
                </a:solidFill>
                <a:latin typeface="Aptos"/>
                <a:ea typeface="Aptos"/>
                <a:cs typeface="Aptos"/>
              </a:rPr>
              <a:t>loitering dwell threshold = high</a:t>
            </a:r>
          </a:p>
        </p:txBody>
      </p:sp>
      <p:sp>
        <p:nvSpPr>
          <p:cNvPr id="33" name="pill-bg">
            <a:extLst xmlns:a="http://schemas.openxmlformats.org/drawingml/2006/main">
              <a:ext uri="{FF2B5EF4-FFF2-40B4-BE49-F238E27FC236}">
                <a16:creationId xmlns:a16="http://schemas.microsoft.com/office/drawing/2014/main" id="{5D006F90-C680-4C4F-835F-3490390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213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0332B"/>
          </a:solidFill>
          <a:ln xmlns:a="http://schemas.openxmlformats.org/drawingml/2006/main" w="9525">
            <a:solidFill>
              <a:srgbClr val="7B4C41"/>
            </a:solidFill>
            <a:prstDash val="solid"/>
          </a:ln>
        </p:spPr>
      </p:sp>
      <p:sp>
        <p:nvSpPr>
          <p:cNvPr id="34" name="pill-label">
            <a:extLst xmlns:a="http://schemas.openxmlformats.org/drawingml/2006/main">
              <a:ext uri="{FF2B5EF4-FFF2-40B4-BE49-F238E27FC236}">
                <a16:creationId xmlns:a16="http://schemas.microsoft.com/office/drawing/2014/main" id="{B69D5C3E-AEA2-4060-A693-BEC5A411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3C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D3C9"/>
                </a:solidFill>
                <a:latin typeface="Aptos"/>
                <a:ea typeface="Aptos"/>
                <a:cs typeface="Aptos"/>
              </a:rPr>
              <a:t>unknown vehicle repeat = medium</a:t>
            </a:r>
          </a:p>
        </p:txBody>
      </p:sp>
      <p:sp>
        <p:nvSpPr>
          <p:cNvPr id="35" name="pill-bg">
            <a:extLst xmlns:a="http://schemas.openxmlformats.org/drawingml/2006/main">
              <a:ext uri="{FF2B5EF4-FFF2-40B4-BE49-F238E27FC236}">
                <a16:creationId xmlns:a16="http://schemas.microsoft.com/office/drawing/2014/main" id="{51F0EA7A-9EA5-4A8A-8E5D-9A1974F0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5780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3E55"/>
          </a:solidFill>
          <a:ln xmlns:a="http://schemas.openxmlformats.org/drawingml/2006/main" w="9525">
            <a:solidFill>
              <a:srgbClr val="335F7E"/>
            </a:solidFill>
            <a:prstDash val="solid"/>
          </a:ln>
        </p:spPr>
      </p:sp>
      <p:sp>
        <p:nvSpPr>
          <p:cNvPr id="36" name="pill-label">
            <a:extLst xmlns:a="http://schemas.openxmlformats.org/drawingml/2006/main">
              <a:ext uri="{FF2B5EF4-FFF2-40B4-BE49-F238E27FC236}">
                <a16:creationId xmlns:a16="http://schemas.microsoft.com/office/drawing/2014/main" id="{1E4A4668-8674-403C-A971-D7A2136B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768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DE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8FF"/>
                </a:solidFill>
                <a:latin typeface="Aptos"/>
                <a:ea typeface="Aptos"/>
                <a:cs typeface="Aptos"/>
              </a:rPr>
              <a:t>small blobs + lighting events ignored</a:t>
            </a:r>
          </a:p>
        </p:txBody>
      </p:sp>
      <p:sp>
        <p:nvSpPr>
          <p:cNvPr id="3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C3F67D99-2F85-482D-8D7F-78C2102F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Live incident view</a:t>
            </a:r>
          </a:p>
        </p:txBody>
      </p:sp>
      <p:sp>
        <p:nvSpPr>
          <p:cNvPr id="38" name="dashboard-header">
            <a:extLst xmlns:a="http://schemas.openxmlformats.org/drawingml/2006/main">
              <a:ext uri="{FF2B5EF4-FFF2-40B4-BE49-F238E27FC236}">
                <a16:creationId xmlns:a16="http://schemas.microsoft.com/office/drawing/2014/main" id="{76FE1167-FA97-4348-B95B-181F003F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2C"/>
          </a:solidFill>
          <a:ln xmlns:a="http://schemas.openxmlformats.org/drawingml/2006/main" w="0">
            <a:solidFill>
              <a:srgbClr val="1A322C"/>
            </a:solidFill>
            <a:prstDash val="solid"/>
          </a:ln>
        </p:spPr>
      </p:sp>
      <p:sp>
        <p:nvSpPr>
          <p:cNvPr id="39" name="dashboard-label">
            <a:extLst xmlns:a="http://schemas.openxmlformats.org/drawingml/2006/main">
              <a:ext uri="{FF2B5EF4-FFF2-40B4-BE49-F238E27FC236}">
                <a16:creationId xmlns:a16="http://schemas.microsoft.com/office/drawing/2014/main" id="{5213FF77-9984-41A2-A4AA-F0DAE93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666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D8CE"/>
                </a:solidFill>
                <a:latin typeface="Aptos"/>
                <a:ea typeface="Aptos"/>
                <a:cs typeface="Aptos"/>
              </a:rPr>
              <a:t>severity</a:t>
            </a:r>
          </a:p>
        </p:txBody>
      </p:sp>
      <p:sp>
        <p:nvSpPr>
          <p:cNvPr id="40" name="dashboard-label">
            <a:extLst xmlns:a="http://schemas.openxmlformats.org/drawingml/2006/main">
              <a:ext uri="{FF2B5EF4-FFF2-40B4-BE49-F238E27FC236}">
                <a16:creationId xmlns:a16="http://schemas.microsoft.com/office/drawing/2014/main" id="{07E77340-83A0-456F-9255-B596830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D8CE"/>
                </a:solidFill>
                <a:latin typeface="Aptos"/>
                <a:ea typeface="Aptos"/>
                <a:cs typeface="Aptos"/>
              </a:rPr>
              <a:t>event context</a:t>
            </a:r>
          </a:p>
        </p:txBody>
      </p:sp>
      <p:sp>
        <p:nvSpPr>
          <p:cNvPr id="41" name="incident-row">
            <a:extLst xmlns:a="http://schemas.openxmlformats.org/drawingml/2006/main">
              <a:ext uri="{FF2B5EF4-FFF2-40B4-BE49-F238E27FC236}">
                <a16:creationId xmlns:a16="http://schemas.microsoft.com/office/drawing/2014/main" id="{A9A31EC2-F8DC-4C2E-BA50-256B280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42" name="severity-chip">
            <a:extLst xmlns:a="http://schemas.openxmlformats.org/drawingml/2006/main">
              <a:ext uri="{FF2B5EF4-FFF2-40B4-BE49-F238E27FC236}">
                <a16:creationId xmlns:a16="http://schemas.microsoft.com/office/drawing/2014/main" id="{23669406-ABC6-4AFA-B911-7868B0EC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57550"/>
            <a:ext cx="685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C63F35"/>
          </a:solidFill>
          <a:ln xmlns:a="http://schemas.openxmlformats.org/drawingml/2006/main" w="0">
            <a:solidFill>
              <a:srgbClr val="C63F35"/>
            </a:solidFill>
            <a:prstDash val="solid"/>
          </a:ln>
        </p:spPr>
      </p:sp>
      <p:sp>
        <p:nvSpPr>
          <p:cNvPr id="43" name="severity-text">
            <a:extLst xmlns:a="http://schemas.openxmlformats.org/drawingml/2006/main">
              <a:ext uri="{FF2B5EF4-FFF2-40B4-BE49-F238E27FC236}">
                <a16:creationId xmlns:a16="http://schemas.microsoft.com/office/drawing/2014/main" id="{5456C5B3-9510-452A-9466-7E9E6891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0517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4" name="incident-label">
            <a:extLst xmlns:a="http://schemas.openxmlformats.org/drawingml/2006/main">
              <a:ext uri="{FF2B5EF4-FFF2-40B4-BE49-F238E27FC236}">
                <a16:creationId xmlns:a16="http://schemas.microsoft.com/office/drawing/2014/main" id="{D857081D-965F-4ECE-B4B7-326B7B6C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Night perimeter activity</a:t>
            </a:r>
          </a:p>
        </p:txBody>
      </p:sp>
      <p:sp>
        <p:nvSpPr>
          <p:cNvPr id="45" name="incident-detail">
            <a:extLst xmlns:a="http://schemas.openxmlformats.org/drawingml/2006/main">
              <a:ext uri="{FF2B5EF4-FFF2-40B4-BE49-F238E27FC236}">
                <a16:creationId xmlns:a16="http://schemas.microsoft.com/office/drawing/2014/main" id="{06F89C89-0663-49D2-B698-F22545B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Zone: north fence | Evidence: cropped clip</a:t>
            </a:r>
          </a:p>
        </p:txBody>
      </p:sp>
      <p:sp>
        <p:nvSpPr>
          <p:cNvPr id="46" name="incident-row">
            <a:extLst xmlns:a="http://schemas.openxmlformats.org/drawingml/2006/main">
              <a:ext uri="{FF2B5EF4-FFF2-40B4-BE49-F238E27FC236}">
                <a16:creationId xmlns:a16="http://schemas.microsoft.com/office/drawing/2014/main" id="{D67EE020-FB96-42A5-B3D9-113C0A96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47" name="severity-chip">
            <a:extLst xmlns:a="http://schemas.openxmlformats.org/drawingml/2006/main">
              <a:ext uri="{FF2B5EF4-FFF2-40B4-BE49-F238E27FC236}">
                <a16:creationId xmlns:a16="http://schemas.microsoft.com/office/drawing/2014/main" id="{B3DFDABD-9269-4EB6-B8B5-3C6500BD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685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48" name="severity-text">
            <a:extLst xmlns:a="http://schemas.openxmlformats.org/drawingml/2006/main">
              <a:ext uri="{FF2B5EF4-FFF2-40B4-BE49-F238E27FC236}">
                <a16:creationId xmlns:a16="http://schemas.microsoft.com/office/drawing/2014/main" id="{DE1C33DD-EBDD-4D79-8ED2-ED8499E2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957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9" name="incident-label">
            <a:extLst xmlns:a="http://schemas.openxmlformats.org/drawingml/2006/main">
              <a:ext uri="{FF2B5EF4-FFF2-40B4-BE49-F238E27FC236}">
                <a16:creationId xmlns:a16="http://schemas.microsoft.com/office/drawing/2014/main" id="{F3881A88-93F0-495A-9EEE-38611AD5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Loitering near asset yard</a:t>
            </a:r>
          </a:p>
        </p:txBody>
      </p:sp>
      <p:sp>
        <p:nvSpPr>
          <p:cNvPr id="50" name="incident-detail">
            <a:extLst xmlns:a="http://schemas.openxmlformats.org/drawingml/2006/main">
              <a:ext uri="{FF2B5EF4-FFF2-40B4-BE49-F238E27FC236}">
                <a16:creationId xmlns:a16="http://schemas.microsoft.com/office/drawing/2014/main" id="{1AE76028-E65D-4662-8871-4697E54C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Dwell: 52 sec | Action: dispatch guard</a:t>
            </a:r>
          </a:p>
        </p:txBody>
      </p:sp>
      <p:sp>
        <p:nvSpPr>
          <p:cNvPr id="51" name="incident-row">
            <a:extLst xmlns:a="http://schemas.openxmlformats.org/drawingml/2006/main">
              <a:ext uri="{FF2B5EF4-FFF2-40B4-BE49-F238E27FC236}">
                <a16:creationId xmlns:a16="http://schemas.microsoft.com/office/drawing/2014/main" id="{6A811F4E-E2D5-4701-BEA1-316B7474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52" name="severity-chip">
            <a:extLst xmlns:a="http://schemas.openxmlformats.org/drawingml/2006/main">
              <a:ext uri="{FF2B5EF4-FFF2-40B4-BE49-F238E27FC236}">
                <a16:creationId xmlns:a16="http://schemas.microsoft.com/office/drawing/2014/main" id="{5704F06E-8BBB-4823-9CF9-EFE7342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38650"/>
            <a:ext cx="685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53" name="severity-text">
            <a:extLst xmlns:a="http://schemas.openxmlformats.org/drawingml/2006/main">
              <a:ext uri="{FF2B5EF4-FFF2-40B4-BE49-F238E27FC236}">
                <a16:creationId xmlns:a16="http://schemas.microsoft.com/office/drawing/2014/main" id="{B7BF2CB2-F175-444D-AD3C-D0887F2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8627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</a:t>
            </a:r>
          </a:p>
        </p:txBody>
      </p:sp>
      <p:sp>
        <p:nvSpPr>
          <p:cNvPr id="54" name="incident-label">
            <a:extLst xmlns:a="http://schemas.openxmlformats.org/drawingml/2006/main">
              <a:ext uri="{FF2B5EF4-FFF2-40B4-BE49-F238E27FC236}">
                <a16:creationId xmlns:a16="http://schemas.microsoft.com/office/drawing/2014/main" id="{4911F3C4-1BFF-4A0F-BA4A-943F8074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Unknown vehicle repeat</a:t>
            </a:r>
          </a:p>
        </p:txBody>
      </p:sp>
      <p:sp>
        <p:nvSpPr>
          <p:cNvPr id="55" name="incident-detail">
            <a:extLst xmlns:a="http://schemas.openxmlformats.org/drawingml/2006/main">
              <a:ext uri="{FF2B5EF4-FFF2-40B4-BE49-F238E27FC236}">
                <a16:creationId xmlns:a16="http://schemas.microsoft.com/office/drawing/2014/main" id="{C6713D2F-4CE8-49C0-9297-B28A59C4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0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Gate 3 | Plate not recognized</a:t>
            </a:r>
          </a:p>
        </p:txBody>
      </p:sp>
      <p:sp>
        <p:nvSpPr>
          <p:cNvPr id="56" name="incident-row">
            <a:extLst xmlns:a="http://schemas.openxmlformats.org/drawingml/2006/main">
              <a:ext uri="{FF2B5EF4-FFF2-40B4-BE49-F238E27FC236}">
                <a16:creationId xmlns:a16="http://schemas.microsoft.com/office/drawing/2014/main" id="{B8AA6498-8CB4-4B25-A97A-AB81BD10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09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57" name="severity-chip">
            <a:extLst xmlns:a="http://schemas.openxmlformats.org/drawingml/2006/main">
              <a:ext uri="{FF2B5EF4-FFF2-40B4-BE49-F238E27FC236}">
                <a16:creationId xmlns:a16="http://schemas.microsoft.com/office/drawing/2014/main" id="{6967C348-E182-44CC-AF17-5586374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685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58" name="severity-text">
            <a:extLst xmlns:a="http://schemas.openxmlformats.org/drawingml/2006/main">
              <a:ext uri="{FF2B5EF4-FFF2-40B4-BE49-F238E27FC236}">
                <a16:creationId xmlns:a16="http://schemas.microsoft.com/office/drawing/2014/main" id="{E4521032-D2EA-45BE-A7A3-C0BAED5C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768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</a:t>
            </a:r>
          </a:p>
        </p:txBody>
      </p:sp>
      <p:sp>
        <p:nvSpPr>
          <p:cNvPr id="59" name="incident-label">
            <a:extLst xmlns:a="http://schemas.openxmlformats.org/drawingml/2006/main">
              <a:ext uri="{FF2B5EF4-FFF2-40B4-BE49-F238E27FC236}">
                <a16:creationId xmlns:a16="http://schemas.microsoft.com/office/drawing/2014/main" id="{8D82F843-CED7-423C-8839-29F0412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Lighting shift ignored</a:t>
            </a:r>
          </a:p>
        </p:txBody>
      </p:sp>
      <p:sp>
        <p:nvSpPr>
          <p:cNvPr id="60" name="incident-detail">
            <a:extLst xmlns:a="http://schemas.openxmlformats.org/drawingml/2006/main">
              <a:ext uri="{FF2B5EF4-FFF2-40B4-BE49-F238E27FC236}">
                <a16:creationId xmlns:a16="http://schemas.microsoft.com/office/drawing/2014/main" id="{43D30CEF-0D05-4086-AAED-2E06CB3C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62550"/>
            <a:ext cx="266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Filtered by size and frame ratio</a:t>
            </a:r>
          </a:p>
        </p:txBody>
      </p:sp>
      <p:sp>
        <p:nvSpPr>
          <p:cNvPr id="6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D47E23-7DD4-4728-8432-8837E746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6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2D79BA2-B63D-4900-9B41-8D9759A7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6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BF45FBA-CAE2-475B-B141-7FD32391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F66"/>
                </a:solidFill>
                <a:latin typeface="Aptos"/>
                <a:ea typeface="Aptos"/>
                <a:cs typeface="Aptos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4219762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F4B31A-6238-4B87-AE85-740222A4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1"/>
          </a:solidFill>
          <a:ln xmlns:a="http://schemas.openxmlformats.org/drawingml/2006/main" w="0">
            <a:solidFill>
              <a:srgbClr val="F5F7F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D64D142-F304-455C-88C4-DE6D5D48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78"/>
                </a:solidFill>
                <a:latin typeface="Aptos"/>
                <a:ea typeface="Aptos"/>
                <a:cs typeface="Aptos"/>
              </a:rPr>
              <a:t>BENEFITS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800E38-41BF-43AC-A275-0419DA5D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05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rPr>
              <a:t>Connected drone intelligence improves security, safety and operations together.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CCFF58D-D01E-48C1-B412-11B7668B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The value is not only better footage. It is faster decisions, safer response and durable intelligence across sites.</a:t>
            </a:r>
          </a:p>
        </p:txBody>
      </p:sp>
      <p:sp>
        <p:nvSpPr>
          <p:cNvPr id="5" name="benefit-card">
            <a:extLst xmlns:a="http://schemas.openxmlformats.org/drawingml/2006/main">
              <a:ext uri="{FF2B5EF4-FFF2-40B4-BE49-F238E27FC236}">
                <a16:creationId xmlns:a16="http://schemas.microsoft.com/office/drawing/2014/main" id="{194C3EA6-7A89-4577-A486-FCA28719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76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6" name="benefit-accent">
            <a:extLst xmlns:a="http://schemas.openxmlformats.org/drawingml/2006/main">
              <a:ext uri="{FF2B5EF4-FFF2-40B4-BE49-F238E27FC236}">
                <a16:creationId xmlns:a16="http://schemas.microsoft.com/office/drawing/2014/main" id="{FE20F90A-1DD5-49A1-B387-7FE0470F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7" name="benefit-label">
            <a:extLst xmlns:a="http://schemas.openxmlformats.org/drawingml/2006/main">
              <a:ext uri="{FF2B5EF4-FFF2-40B4-BE49-F238E27FC236}">
                <a16:creationId xmlns:a16="http://schemas.microsoft.com/office/drawing/2014/main" id="{D2EA5D20-98CE-43EB-AEDB-91150EC9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Infrastructure security</a:t>
            </a:r>
          </a:p>
        </p:txBody>
      </p:sp>
      <p:sp>
        <p:nvSpPr>
          <p:cNvPr id="8" name="benefit-detail">
            <a:extLst xmlns:a="http://schemas.openxmlformats.org/drawingml/2006/main">
              <a:ext uri="{FF2B5EF4-FFF2-40B4-BE49-F238E27FC236}">
                <a16:creationId xmlns:a16="http://schemas.microsoft.com/office/drawing/2014/main" id="{B190E2B7-3E2E-41EA-B129-688AFCE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Monitor perimeter, asset yards, rooftops, substations and restricted zones with context-aware escalation.</a:t>
            </a:r>
          </a:p>
        </p:txBody>
      </p:sp>
      <p:sp>
        <p:nvSpPr>
          <p:cNvPr id="9" name="kpi-chip">
            <a:extLst xmlns:a="http://schemas.openxmlformats.org/drawingml/2006/main">
              <a:ext uri="{FF2B5EF4-FFF2-40B4-BE49-F238E27FC236}">
                <a16:creationId xmlns:a16="http://schemas.microsoft.com/office/drawing/2014/main" id="{F5AD1E8E-3CB1-4722-A9FD-841631C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057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F6F0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10" name="kpi-text">
            <a:extLst xmlns:a="http://schemas.openxmlformats.org/drawingml/2006/main">
              <a:ext uri="{FF2B5EF4-FFF2-40B4-BE49-F238E27FC236}">
                <a16:creationId xmlns:a16="http://schemas.microsoft.com/office/drawing/2014/main" id="{111D01DB-B009-4CAD-866B-632511BF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KPI: coverage gap by zone</a:t>
            </a:r>
          </a:p>
        </p:txBody>
      </p:sp>
      <p:sp>
        <p:nvSpPr>
          <p:cNvPr id="11" name="benefit-card">
            <a:extLst xmlns:a="http://schemas.openxmlformats.org/drawingml/2006/main">
              <a:ext uri="{FF2B5EF4-FFF2-40B4-BE49-F238E27FC236}">
                <a16:creationId xmlns:a16="http://schemas.microsoft.com/office/drawing/2014/main" id="{D1752049-3F48-485B-98AC-C7DCFCB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2476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2" name="benefit-accent">
            <a:extLst xmlns:a="http://schemas.openxmlformats.org/drawingml/2006/main">
              <a:ext uri="{FF2B5EF4-FFF2-40B4-BE49-F238E27FC236}">
                <a16:creationId xmlns:a16="http://schemas.microsoft.com/office/drawing/2014/main" id="{B028399D-5477-4377-BDDB-A4E1F5A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13" name="benefit-label">
            <a:extLst xmlns:a="http://schemas.openxmlformats.org/drawingml/2006/main">
              <a:ext uri="{FF2B5EF4-FFF2-40B4-BE49-F238E27FC236}">
                <a16:creationId xmlns:a16="http://schemas.microsoft.com/office/drawing/2014/main" id="{934D5CA8-2A36-4FAF-A91C-1675ED74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Risk to human lives</a:t>
            </a:r>
          </a:p>
        </p:txBody>
      </p:sp>
      <p:sp>
        <p:nvSpPr>
          <p:cNvPr id="14" name="benefit-detail">
            <a:extLst xmlns:a="http://schemas.openxmlformats.org/drawingml/2006/main">
              <a:ext uri="{FF2B5EF4-FFF2-40B4-BE49-F238E27FC236}">
                <a16:creationId xmlns:a16="http://schemas.microsoft.com/office/drawing/2014/main" id="{1790B6A0-143E-470D-9927-4DB110B3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Dispatch people after remote verification, especially at night, during hazards or at isolated locations.</a:t>
            </a:r>
          </a:p>
        </p:txBody>
      </p:sp>
      <p:sp>
        <p:nvSpPr>
          <p:cNvPr id="15" name="kpi-chip">
            <a:extLst xmlns:a="http://schemas.openxmlformats.org/drawingml/2006/main">
              <a:ext uri="{FF2B5EF4-FFF2-40B4-BE49-F238E27FC236}">
                <a16:creationId xmlns:a16="http://schemas.microsoft.com/office/drawing/2014/main" id="{CA250BE8-3A6A-4777-9F90-C16025C8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76650"/>
            <a:ext cx="2057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F6F0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16" name="kpi-text">
            <a:extLst xmlns:a="http://schemas.openxmlformats.org/drawingml/2006/main">
              <a:ext uri="{FF2B5EF4-FFF2-40B4-BE49-F238E27FC236}">
                <a16:creationId xmlns:a16="http://schemas.microsoft.com/office/drawing/2014/main" id="{F422A82B-F51F-4D8F-A759-8D4FF343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528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KPI: risky patrol exposure</a:t>
            </a:r>
          </a:p>
        </p:txBody>
      </p:sp>
      <p:sp>
        <p:nvSpPr>
          <p:cNvPr id="17" name="benefit-card">
            <a:extLst xmlns:a="http://schemas.openxmlformats.org/drawingml/2006/main">
              <a:ext uri="{FF2B5EF4-FFF2-40B4-BE49-F238E27FC236}">
                <a16:creationId xmlns:a16="http://schemas.microsoft.com/office/drawing/2014/main" id="{D08EF0A2-5AD0-417E-A505-47C87FCD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476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8" name="benefit-accent">
            <a:extLst xmlns:a="http://schemas.openxmlformats.org/drawingml/2006/main">
              <a:ext uri="{FF2B5EF4-FFF2-40B4-BE49-F238E27FC236}">
                <a16:creationId xmlns:a16="http://schemas.microsoft.com/office/drawing/2014/main" id="{915A3D59-E182-47B0-AAA3-8B1B6814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19" name="benefit-label">
            <a:extLst xmlns:a="http://schemas.openxmlformats.org/drawingml/2006/main">
              <a:ext uri="{FF2B5EF4-FFF2-40B4-BE49-F238E27FC236}">
                <a16:creationId xmlns:a16="http://schemas.microsoft.com/office/drawing/2014/main" id="{163777B4-F5C5-4AB9-9363-21C5CA7C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Operational efficiency</a:t>
            </a:r>
          </a:p>
        </p:txBody>
      </p:sp>
      <p:sp>
        <p:nvSpPr>
          <p:cNvPr id="20" name="benefit-detail">
            <a:extLst xmlns:a="http://schemas.openxmlformats.org/drawingml/2006/main">
              <a:ext uri="{FF2B5EF4-FFF2-40B4-BE49-F238E27FC236}">
                <a16:creationId xmlns:a16="http://schemas.microsoft.com/office/drawing/2014/main" id="{ACEDC5F7-FC50-4DC5-AF15-D8D3FF18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Reduce camera fatigue and consolidate alert handling into a response workflow instead of manual review.</a:t>
            </a:r>
          </a:p>
        </p:txBody>
      </p:sp>
      <p:sp>
        <p:nvSpPr>
          <p:cNvPr id="21" name="kpi-chip">
            <a:extLst xmlns:a="http://schemas.openxmlformats.org/drawingml/2006/main">
              <a:ext uri="{FF2B5EF4-FFF2-40B4-BE49-F238E27FC236}">
                <a16:creationId xmlns:a16="http://schemas.microsoft.com/office/drawing/2014/main" id="{EDA5506F-DE25-4929-9204-4AC39008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2057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F6F0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22" name="kpi-text">
            <a:extLst xmlns:a="http://schemas.openxmlformats.org/drawingml/2006/main">
              <a:ext uri="{FF2B5EF4-FFF2-40B4-BE49-F238E27FC236}">
                <a16:creationId xmlns:a16="http://schemas.microsoft.com/office/drawing/2014/main" id="{C5053646-1250-492F-9053-D78ACC8C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KPI: mean time to acknowledge</a:t>
            </a:r>
          </a:p>
        </p:txBody>
      </p:sp>
      <p:sp>
        <p:nvSpPr>
          <p:cNvPr id="23" name="benefit-card">
            <a:extLst xmlns:a="http://schemas.openxmlformats.org/drawingml/2006/main">
              <a:ext uri="{FF2B5EF4-FFF2-40B4-BE49-F238E27FC236}">
                <a16:creationId xmlns:a16="http://schemas.microsoft.com/office/drawing/2014/main" id="{08B1B68E-C673-4BFA-BBBD-B8C5BF91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476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24" name="benefit-accent">
            <a:extLst xmlns:a="http://schemas.openxmlformats.org/drawingml/2006/main">
              <a:ext uri="{FF2B5EF4-FFF2-40B4-BE49-F238E27FC236}">
                <a16:creationId xmlns:a16="http://schemas.microsoft.com/office/drawing/2014/main" id="{D2D09139-ACB8-4612-8A8E-7BE83A1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25" name="benefit-label">
            <a:extLst xmlns:a="http://schemas.openxmlformats.org/drawingml/2006/main">
              <a:ext uri="{FF2B5EF4-FFF2-40B4-BE49-F238E27FC236}">
                <a16:creationId xmlns:a16="http://schemas.microsoft.com/office/drawing/2014/main" id="{AD0753D7-6DA4-4DC4-8B4C-06B5499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Enterprise intelligence</a:t>
            </a:r>
          </a:p>
        </p:txBody>
      </p:sp>
      <p:sp>
        <p:nvSpPr>
          <p:cNvPr id="26" name="benefit-detail">
            <a:extLst xmlns:a="http://schemas.openxmlformats.org/drawingml/2006/main">
              <a:ext uri="{FF2B5EF4-FFF2-40B4-BE49-F238E27FC236}">
                <a16:creationId xmlns:a16="http://schemas.microsoft.com/office/drawing/2014/main" id="{0D6B90C9-8D1C-4BC8-8A0E-162FB671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Search historical incidents, compare sites, identify repeat patterns and keep audit-ready evidence.</a:t>
            </a:r>
          </a:p>
        </p:txBody>
      </p:sp>
      <p:sp>
        <p:nvSpPr>
          <p:cNvPr id="27" name="kpi-chip">
            <a:extLst xmlns:a="http://schemas.openxmlformats.org/drawingml/2006/main">
              <a:ext uri="{FF2B5EF4-FFF2-40B4-BE49-F238E27FC236}">
                <a16:creationId xmlns:a16="http://schemas.microsoft.com/office/drawing/2014/main" id="{23137B0A-0997-4F75-9B8D-AFCD9B5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057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F6F0"/>
          </a:solidFill>
          <a:ln xmlns:a="http://schemas.openxmlformats.org/drawingml/2006/main" w="9525">
            <a:solidFill>
              <a:srgbClr val="DDE7DE"/>
            </a:solidFill>
            <a:prstDash val="solid"/>
          </a:ln>
        </p:spPr>
      </p:sp>
      <p:sp>
        <p:nvSpPr>
          <p:cNvPr id="28" name="kpi-text">
            <a:extLst xmlns:a="http://schemas.openxmlformats.org/drawingml/2006/main">
              <a:ext uri="{FF2B5EF4-FFF2-40B4-BE49-F238E27FC236}">
                <a16:creationId xmlns:a16="http://schemas.microsoft.com/office/drawing/2014/main" id="{B0082445-ECBD-49A6-A501-60445E2C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KPI: recurring risk themes</a:t>
            </a:r>
          </a:p>
        </p:txBody>
      </p:sp>
      <p:sp>
        <p:nvSpPr>
          <p:cNvPr id="29" name="metric-band">
            <a:extLst xmlns:a="http://schemas.openxmlformats.org/drawingml/2006/main">
              <a:ext uri="{FF2B5EF4-FFF2-40B4-BE49-F238E27FC236}">
                <a16:creationId xmlns:a16="http://schemas.microsoft.com/office/drawing/2014/main" id="{938DC605-2471-4C05-8F1C-A1DD8F1F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591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923"/>
          </a:solidFill>
          <a:ln xmlns:a="http://schemas.openxmlformats.org/drawingml/2006/main" w="9525">
            <a:solidFill>
              <a:srgbClr val="2F5146"/>
            </a:solidFill>
            <a:prstDash val="solid"/>
          </a:ln>
        </p:spPr>
      </p:sp>
      <p:sp>
        <p:nvSpPr>
          <p:cNvPr id="30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C3635C6D-F45B-4576-96F2-8BF18223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3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F0E98EE-B0AD-493C-B935-2A41FF15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24x7</a:t>
            </a:r>
          </a:p>
        </p:txBody>
      </p:sp>
      <p:sp>
        <p:nvSpPr>
          <p:cNvPr id="3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75734F0-E9B8-4659-AB8C-BA27904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drone-aware monitoring coverage for large zones</a:t>
            </a:r>
          </a:p>
        </p:txBody>
      </p:sp>
      <p:sp>
        <p:nvSpPr>
          <p:cNvPr id="3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946DA726-D9D6-4564-A8BC-113A8CD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96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3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CA953BB-EA50-473B-9B7D-092BE59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minutes</a:t>
            </a:r>
          </a:p>
        </p:txBody>
      </p:sp>
      <p:sp>
        <p:nvSpPr>
          <p:cNvPr id="3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F5CC875-24FF-4BDF-8290-1903026D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816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from event to verified incident package</a:t>
            </a:r>
          </a:p>
        </p:txBody>
      </p:sp>
      <p:sp>
        <p:nvSpPr>
          <p:cNvPr id="3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2BA8ACC8-2A5F-4764-B247-E511FECE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3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F6CBD93-015D-43A3-9104-651848C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lower noise</a:t>
            </a:r>
          </a:p>
        </p:txBody>
      </p:sp>
      <p:sp>
        <p:nvSpPr>
          <p:cNvPr id="3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EC9952D-5F5C-4E15-B98E-0D555545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8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D8CE"/>
                </a:solidFill>
                <a:latin typeface="Aptos"/>
                <a:ea typeface="Aptos"/>
                <a:cs typeface="Aptos"/>
              </a:rPr>
              <a:t>rules and context before escalation</a:t>
            </a:r>
          </a:p>
        </p:txBody>
      </p:sp>
      <p:sp>
        <p:nvSpPr>
          <p:cNvPr id="39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7C7E2A1-57F2-48EE-966D-AAA4574B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E5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5DC"/>
                </a:solidFill>
                <a:latin typeface="Aptos"/>
                <a:ea typeface="Aptos"/>
                <a:cs typeface="Aptos"/>
              </a:rPr>
              <a:t>submission framing: target KPIs are designed for pilots where baseline data can be measured site-by-site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E8C6C6-6823-4861-96F8-139DE19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987E21-95AF-4FD3-9F3C-3D823BE5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8F774D-1C1F-4C7B-BF8B-B4860B83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F66"/>
                </a:solidFill>
                <a:latin typeface="Aptos"/>
                <a:ea typeface="Aptos"/>
                <a:cs typeface="Aptos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9506559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9A864A4-7DF0-4F31-8D18-C438279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1"/>
          </a:solidFill>
          <a:ln xmlns:a="http://schemas.openxmlformats.org/drawingml/2006/main" w="0">
            <a:solidFill>
              <a:srgbClr val="F5F7F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D83175A-7885-4877-B13F-CF39C3BC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78"/>
                </a:solidFill>
                <a:latin typeface="Aptos"/>
                <a:ea typeface="Aptos"/>
                <a:cs typeface="Aptos"/>
              </a:rPr>
              <a:t>MVP TO ENTERPRISE PATH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411858-E1DB-4F62-ABD3-18B808C8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rPr>
              <a:t>Hackathon MVP scope is credible, demoable and extensible.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13BF4D3-B61E-4959-8DF1-AFD80DAC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starts with a working alert engine and expands into live drone operations, governance and SOC integration.</a:t>
            </a:r>
          </a:p>
        </p:txBody>
      </p:sp>
      <p:sp>
        <p:nvSpPr>
          <p:cNvPr id="5" name="phase-card">
            <a:extLst xmlns:a="http://schemas.openxmlformats.org/drawingml/2006/main">
              <a:ext uri="{FF2B5EF4-FFF2-40B4-BE49-F238E27FC236}">
                <a16:creationId xmlns:a16="http://schemas.microsoft.com/office/drawing/2014/main" id="{692723DE-55A7-48C2-B5DA-2E59CC57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6" name="phase-accent">
            <a:extLst xmlns:a="http://schemas.openxmlformats.org/drawingml/2006/main">
              <a:ext uri="{FF2B5EF4-FFF2-40B4-BE49-F238E27FC236}">
                <a16:creationId xmlns:a16="http://schemas.microsoft.com/office/drawing/2014/main" id="{69675AD1-FFDE-41EC-921A-88D05323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7" name="phase-label">
            <a:extLst xmlns:a="http://schemas.openxmlformats.org/drawingml/2006/main">
              <a:ext uri="{FF2B5EF4-FFF2-40B4-BE49-F238E27FC236}">
                <a16:creationId xmlns:a16="http://schemas.microsoft.com/office/drawing/2014/main" id="{E7E3B8D3-DDF2-4F11-9BFE-601013D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Now: demo proof</a:t>
            </a:r>
          </a:p>
        </p:txBody>
      </p:sp>
      <p:sp>
        <p:nvSpPr>
          <p:cNvPr id="8" name="phase-detail">
            <a:extLst xmlns:a="http://schemas.openxmlformats.org/drawingml/2006/main">
              <a:ext uri="{FF2B5EF4-FFF2-40B4-BE49-F238E27FC236}">
                <a16:creationId xmlns:a16="http://schemas.microsoft.com/office/drawing/2014/main" id="{394C7E79-D90D-47AB-855D-D0663D6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Video upload or stream simulation, OpenCV motion detection, captioning, severity rules, Telegram alerts and stored logs.</a:t>
            </a:r>
          </a:p>
        </p:txBody>
      </p:sp>
      <p:sp>
        <p:nvSpPr>
          <p:cNvPr id="9" name="phase-card">
            <a:extLst xmlns:a="http://schemas.openxmlformats.org/drawingml/2006/main">
              <a:ext uri="{FF2B5EF4-FFF2-40B4-BE49-F238E27FC236}">
                <a16:creationId xmlns:a16="http://schemas.microsoft.com/office/drawing/2014/main" id="{806EF293-1AF1-425A-ADE8-05D6F1C1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0" name="phase-accent">
            <a:extLst xmlns:a="http://schemas.openxmlformats.org/drawingml/2006/main">
              <a:ext uri="{FF2B5EF4-FFF2-40B4-BE49-F238E27FC236}">
                <a16:creationId xmlns:a16="http://schemas.microsoft.com/office/drawing/2014/main" id="{40187317-B56D-4E0D-B33B-2C525659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11" name="phase-label">
            <a:extLst xmlns:a="http://schemas.openxmlformats.org/drawingml/2006/main">
              <a:ext uri="{FF2B5EF4-FFF2-40B4-BE49-F238E27FC236}">
                <a16:creationId xmlns:a16="http://schemas.microsoft.com/office/drawing/2014/main" id="{115CEDDB-2421-4065-8578-911991CB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Next: live site pilot</a:t>
            </a:r>
          </a:p>
        </p:txBody>
      </p:sp>
      <p:sp>
        <p:nvSpPr>
          <p:cNvPr id="12" name="phase-detail">
            <a:extLst xmlns:a="http://schemas.openxmlformats.org/drawingml/2006/main">
              <a:ext uri="{FF2B5EF4-FFF2-40B4-BE49-F238E27FC236}">
                <a16:creationId xmlns:a16="http://schemas.microsoft.com/office/drawing/2014/main" id="{8A6C9B89-CCD5-49B0-A09B-7FC6570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Drone feed ingestion, geofenced patrol routes, operator acknowledgement, response SLA and site-specific rules.</a:t>
            </a:r>
          </a:p>
        </p:txBody>
      </p:sp>
      <p:sp>
        <p:nvSpPr>
          <p:cNvPr id="13" name="phase-card">
            <a:extLst xmlns:a="http://schemas.openxmlformats.org/drawingml/2006/main">
              <a:ext uri="{FF2B5EF4-FFF2-40B4-BE49-F238E27FC236}">
                <a16:creationId xmlns:a16="http://schemas.microsoft.com/office/drawing/2014/main" id="{860FD8B7-38E1-4AF4-9A73-CACC2B7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4" name="phase-accent">
            <a:extLst xmlns:a="http://schemas.openxmlformats.org/drawingml/2006/main">
              <a:ext uri="{FF2B5EF4-FFF2-40B4-BE49-F238E27FC236}">
                <a16:creationId xmlns:a16="http://schemas.microsoft.com/office/drawing/2014/main" id="{CF1BB94A-693C-4B83-8A69-A884CB2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15" name="phase-label">
            <a:extLst xmlns:a="http://schemas.openxmlformats.org/drawingml/2006/main">
              <a:ext uri="{FF2B5EF4-FFF2-40B4-BE49-F238E27FC236}">
                <a16:creationId xmlns:a16="http://schemas.microsoft.com/office/drawing/2014/main" id="{D1CF263A-1983-4EF9-916F-AFB59525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Enterprise: scale</a:t>
            </a:r>
          </a:p>
        </p:txBody>
      </p:sp>
      <p:sp>
        <p:nvSpPr>
          <p:cNvPr id="16" name="phase-detail">
            <a:extLst xmlns:a="http://schemas.openxmlformats.org/drawingml/2006/main">
              <a:ext uri="{FF2B5EF4-FFF2-40B4-BE49-F238E27FC236}">
                <a16:creationId xmlns:a16="http://schemas.microsoft.com/office/drawing/2014/main" id="{D0B65B91-C069-4B94-99DC-50A991C7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SIEM/SOC integration, fleet orchestration, privacy controls, multi-site analytics and predictive risk maps.</a:t>
            </a:r>
          </a:p>
        </p:txBody>
      </p:sp>
      <p:sp>
        <p:nvSpPr>
          <p:cNvPr id="17" name="pilot-panel">
            <a:extLst xmlns:a="http://schemas.openxmlformats.org/drawingml/2006/main">
              <a:ext uri="{FF2B5EF4-FFF2-40B4-BE49-F238E27FC236}">
                <a16:creationId xmlns:a16="http://schemas.microsoft.com/office/drawing/2014/main" id="{256078D7-80E0-48BF-9A17-F8B1CDB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953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FDCCE"/>
            </a:solidFill>
            <a:prstDash val="solid"/>
          </a:ln>
        </p:spPr>
      </p:sp>
      <p:sp>
        <p:nvSpPr>
          <p:cNvPr id="18" name="pilot-title">
            <a:extLst xmlns:a="http://schemas.openxmlformats.org/drawingml/2006/main">
              <a:ext uri="{FF2B5EF4-FFF2-40B4-BE49-F238E27FC236}">
                <a16:creationId xmlns:a16="http://schemas.microsoft.com/office/drawing/2014/main" id="{C4717208-FB56-4E3B-BBEC-9F0A8103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Pilot design</a:t>
            </a:r>
          </a:p>
        </p:txBody>
      </p:sp>
      <p:sp>
        <p:nvSpPr>
          <p:cNvPr id="19" name="bullet-dot">
            <a:extLst xmlns:a="http://schemas.openxmlformats.org/drawingml/2006/main">
              <a:ext uri="{FF2B5EF4-FFF2-40B4-BE49-F238E27FC236}">
                <a16:creationId xmlns:a16="http://schemas.microsoft.com/office/drawing/2014/main" id="{1CF8B39E-65B0-45AE-8C4D-F7308608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2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F508F79-0D67-40FD-904F-9C21C65A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Select two high-risk zones and one low-risk control zone.</a:t>
            </a:r>
          </a:p>
        </p:txBody>
      </p:sp>
      <p:sp>
        <p:nvSpPr>
          <p:cNvPr id="21" name="bullet-dot">
            <a:extLst xmlns:a="http://schemas.openxmlformats.org/drawingml/2006/main">
              <a:ext uri="{FF2B5EF4-FFF2-40B4-BE49-F238E27FC236}">
                <a16:creationId xmlns:a16="http://schemas.microsoft.com/office/drawing/2014/main" id="{EF51D077-C7E1-4DF6-A1F2-273F545C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2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937767E-03B4-45B9-A5EA-8923EB50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Measure alert volume, verification time and manual patrol exposure.</a:t>
            </a:r>
          </a:p>
        </p:txBody>
      </p:sp>
      <p:sp>
        <p:nvSpPr>
          <p:cNvPr id="23" name="risk-panel">
            <a:extLst xmlns:a="http://schemas.openxmlformats.org/drawingml/2006/main">
              <a:ext uri="{FF2B5EF4-FFF2-40B4-BE49-F238E27FC236}">
                <a16:creationId xmlns:a16="http://schemas.microsoft.com/office/drawing/2014/main" id="{F8CEFE7A-2620-4AC4-87CF-B6DD8646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86250"/>
            <a:ext cx="52006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5E0"/>
          </a:solidFill>
          <a:ln xmlns:a="http://schemas.openxmlformats.org/drawingml/2006/main" w="9525">
            <a:solidFill>
              <a:srgbClr val="EAD19A"/>
            </a:solidFill>
            <a:prstDash val="solid"/>
          </a:ln>
        </p:spPr>
      </p:sp>
      <p:sp>
        <p:nvSpPr>
          <p:cNvPr id="24" name="risk-title">
            <a:extLst xmlns:a="http://schemas.openxmlformats.org/drawingml/2006/main">
              <a:ext uri="{FF2B5EF4-FFF2-40B4-BE49-F238E27FC236}">
                <a16:creationId xmlns:a16="http://schemas.microsoft.com/office/drawing/2014/main" id="{D2EC2E8E-D7C0-4B74-9CA0-DA53E1B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Operational guardrails</a:t>
            </a:r>
          </a:p>
        </p:txBody>
      </p:sp>
      <p:sp>
        <p:nvSpPr>
          <p:cNvPr id="25" name="bullet-dot">
            <a:extLst xmlns:a="http://schemas.openxmlformats.org/drawingml/2006/main">
              <a:ext uri="{FF2B5EF4-FFF2-40B4-BE49-F238E27FC236}">
                <a16:creationId xmlns:a16="http://schemas.microsoft.com/office/drawing/2014/main" id="{A945AAF0-C11A-4C80-963A-FD7EA015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26" name="bullet-text">
            <a:extLst xmlns:a="http://schemas.openxmlformats.org/drawingml/2006/main">
              <a:ext uri="{FF2B5EF4-FFF2-40B4-BE49-F238E27FC236}">
                <a16:creationId xmlns:a16="http://schemas.microsoft.com/office/drawing/2014/main" id="{B9183594-A97A-4863-A553-4B58825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398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Privacy zones, retention controls, audit logs and RBAC.</a:t>
            </a:r>
          </a:p>
        </p:txBody>
      </p:sp>
      <p:sp>
        <p:nvSpPr>
          <p:cNvPr id="27" name="bullet-dot">
            <a:extLst xmlns:a="http://schemas.openxmlformats.org/drawingml/2006/main">
              <a:ext uri="{FF2B5EF4-FFF2-40B4-BE49-F238E27FC236}">
                <a16:creationId xmlns:a16="http://schemas.microsoft.com/office/drawing/2014/main" id="{720D625F-ABC7-456C-B480-9936E956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2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F8FA6715-AC57-489C-9CFC-768D0AB5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398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21D"/>
                </a:solidFill>
                <a:latin typeface="Aptos"/>
                <a:ea typeface="Aptos"/>
                <a:cs typeface="Aptos"/>
              </a:rPr>
              <a:t>Human-in-the-loop dispatch with fail-safe manual override.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3341BE-56EF-453A-93AF-64138F60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3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4F65886-7998-4DCD-A108-B8B2421F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1EC95F6-A6F4-46DC-9AC1-36DD3F19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F66"/>
                </a:solidFill>
                <a:latin typeface="Aptos"/>
                <a:ea typeface="Aptos"/>
                <a:cs typeface="Aptos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18528969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012C204-067F-4403-AC4B-F3CEFF67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1"/>
          </a:solidFill>
          <a:ln xmlns:a="http://schemas.openxmlformats.org/drawingml/2006/main" w="0">
            <a:solidFill>
              <a:srgbClr val="F5F7F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95D304D-ED62-4AF6-857A-618B32D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78"/>
                </a:solidFill>
                <a:latin typeface="Aptos"/>
                <a:ea typeface="Aptos"/>
                <a:cs typeface="Aptos"/>
              </a:rPr>
              <a:t>DEMO VIDEO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2B6BC7-8427-47CB-994F-BDEEF3A4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21D"/>
                </a:solidFill>
                <a:latin typeface="Aptos Display"/>
                <a:ea typeface="Aptos Display"/>
                <a:cs typeface="Aptos Display"/>
              </a:rPr>
              <a:t>Demo proof: real-time video alerts become searchable incidents.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A7C05FD-73D0-4154-8A58-266E4AEB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The Loom walkthrough shows the alert engine processing surveillance video, triggering Telegram alerts and retaining logs for review.</a:t>
            </a:r>
          </a:p>
        </p:txBody>
      </p:sp>
      <p:sp>
        <p:nvSpPr>
          <p:cNvPr id="5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D056B33-3ADE-45B0-ADAE-B97042CC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6197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0cf27e19e41dc"/>
          <a:srcRect xmlns:a="http://schemas.openxmlformats.org/drawingml/2006/main" l="0" t="9769" r="0" b="9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533650"/>
            <a:ext cx="5200650" cy="2724150"/>
          </a:xfrm>
          <a:prstGeom xmlns:a="http://schemas.openxmlformats.org/drawingml/2006/main" prst="rect">
            <a:avLst/>
          </a:prstGeom>
        </p:spPr>
      </p:pic>
      <p:sp>
        <p:nvSpPr>
          <p:cNvPr id="7" name="watch-button">
            <a:extLst xmlns:a="http://schemas.openxmlformats.org/drawingml/2006/main">
              <a:ext uri="{FF2B5EF4-FFF2-40B4-BE49-F238E27FC236}">
                <a16:creationId xmlns:a16="http://schemas.microsoft.com/office/drawing/2014/main" id="{550E01AE-327B-4AFA-AA08-83F03925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53050"/>
            <a:ext cx="2209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2B24"/>
          </a:solidFill>
          <a:ln xmlns:a="http://schemas.openxmlformats.org/drawingml/2006/main" w="0">
            <a:solidFill>
              <a:srgbClr val="122B24"/>
            </a:solidFill>
            <a:prstDash val="solid"/>
          </a:ln>
        </p:spPr>
      </p:sp>
      <p:sp>
        <p:nvSpPr>
          <p:cNvPr id="8" name="watch-link">
            <a:extLst xmlns:a="http://schemas.openxmlformats.org/drawingml/2006/main">
              <a:ext uri="{FF2B5EF4-FFF2-40B4-BE49-F238E27FC236}">
                <a16:creationId xmlns:a16="http://schemas.microsoft.com/office/drawing/2014/main" id="{DE2133DD-A3DC-44C2-A127-313B2600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48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  <a:hlinkClick xmlns:r="http://schemas.openxmlformats.org/officeDocument/2006/relationships" r:id="R87ba1211f52d4646"/>
              </a:rPr>
              <a:t>Watch Loom demo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52E49F29-98F7-40F2-AC90-23C1631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5339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0" name="demo-title">
            <a:extLst xmlns:a="http://schemas.openxmlformats.org/drawingml/2006/main">
              <a:ext uri="{FF2B5EF4-FFF2-40B4-BE49-F238E27FC236}">
                <a16:creationId xmlns:a16="http://schemas.microsoft.com/office/drawing/2014/main" id="{6435FDE1-EE07-4FEE-A1FC-121D02E1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98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Flying CCTV: Real Time Drone Alerts</a:t>
            </a:r>
          </a:p>
        </p:txBody>
      </p:sp>
      <p:sp>
        <p:nvSpPr>
          <p:cNvPr id="11" name="demo-num">
            <a:extLst xmlns:a="http://schemas.openxmlformats.org/drawingml/2006/main">
              <a:ext uri="{FF2B5EF4-FFF2-40B4-BE49-F238E27FC236}">
                <a16:creationId xmlns:a16="http://schemas.microsoft.com/office/drawing/2014/main" id="{9EDAD921-BAB0-4D67-923F-F78CA302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285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emo-num-text">
            <a:extLst xmlns:a="http://schemas.openxmlformats.org/drawingml/2006/main">
              <a:ext uri="{FF2B5EF4-FFF2-40B4-BE49-F238E27FC236}">
                <a16:creationId xmlns:a16="http://schemas.microsoft.com/office/drawing/2014/main" id="{B1477F7E-9134-41FF-9E80-100D53AB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2420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demo-bullet">
            <a:extLst xmlns:a="http://schemas.openxmlformats.org/drawingml/2006/main">
              <a:ext uri="{FF2B5EF4-FFF2-40B4-BE49-F238E27FC236}">
                <a16:creationId xmlns:a16="http://schemas.microsoft.com/office/drawing/2014/main" id="{3964DFA4-2286-4A3C-973F-CEDFA01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Video is sampled frame-by-frame and calibrated for background subtraction.</a:t>
            </a:r>
          </a:p>
        </p:txBody>
      </p:sp>
      <p:sp>
        <p:nvSpPr>
          <p:cNvPr id="14" name="demo-num">
            <a:extLst xmlns:a="http://schemas.openxmlformats.org/drawingml/2006/main">
              <a:ext uri="{FF2B5EF4-FFF2-40B4-BE49-F238E27FC236}">
                <a16:creationId xmlns:a16="http://schemas.microsoft.com/office/drawing/2014/main" id="{09682D2D-6450-4567-9370-607A994E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285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demo-num-text">
            <a:extLst xmlns:a="http://schemas.openxmlformats.org/drawingml/2006/main">
              <a:ext uri="{FF2B5EF4-FFF2-40B4-BE49-F238E27FC236}">
                <a16:creationId xmlns:a16="http://schemas.microsoft.com/office/drawing/2014/main" id="{C437D596-D9E0-4DAF-AAA0-1958E91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demo-bullet">
            <a:extLst xmlns:a="http://schemas.openxmlformats.org/drawingml/2006/main">
              <a:ext uri="{FF2B5EF4-FFF2-40B4-BE49-F238E27FC236}">
                <a16:creationId xmlns:a16="http://schemas.microsoft.com/office/drawing/2014/main" id="{D33AC254-8EB0-4657-8021-521D8E85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Foreground contours are cropped and captioned to identify people, vehicles and anomalies.</a:t>
            </a:r>
          </a:p>
        </p:txBody>
      </p:sp>
      <p:sp>
        <p:nvSpPr>
          <p:cNvPr id="17" name="demo-num">
            <a:extLst xmlns:a="http://schemas.openxmlformats.org/drawingml/2006/main">
              <a:ext uri="{FF2B5EF4-FFF2-40B4-BE49-F238E27FC236}">
                <a16:creationId xmlns:a16="http://schemas.microsoft.com/office/drawing/2014/main" id="{CEB602B6-DC69-43E3-81B4-274A7CAC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14750"/>
            <a:ext cx="285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emo-num-text">
            <a:extLst xmlns:a="http://schemas.openxmlformats.org/drawingml/2006/main">
              <a:ext uri="{FF2B5EF4-FFF2-40B4-BE49-F238E27FC236}">
                <a16:creationId xmlns:a16="http://schemas.microsoft.com/office/drawing/2014/main" id="{197302DF-F146-4381-9359-A1E255B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7190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demo-bullet">
            <a:extLst xmlns:a="http://schemas.openxmlformats.org/drawingml/2006/main">
              <a:ext uri="{FF2B5EF4-FFF2-40B4-BE49-F238E27FC236}">
                <a16:creationId xmlns:a16="http://schemas.microsoft.com/office/drawing/2014/main" id="{E8F82421-E809-49CB-A527-31B4474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1475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Rules engine scores night movement, perimeter activity, repeated vehicles and loitering.</a:t>
            </a:r>
          </a:p>
        </p:txBody>
      </p:sp>
      <p:sp>
        <p:nvSpPr>
          <p:cNvPr id="20" name="demo-num">
            <a:extLst xmlns:a="http://schemas.openxmlformats.org/drawingml/2006/main">
              <a:ext uri="{FF2B5EF4-FFF2-40B4-BE49-F238E27FC236}">
                <a16:creationId xmlns:a16="http://schemas.microsoft.com/office/drawing/2014/main" id="{0D2B0EA6-8A06-4FC3-8D21-DBA35B6A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2857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demo-num-text">
            <a:extLst xmlns:a="http://schemas.openxmlformats.org/drawingml/2006/main">
              <a:ext uri="{FF2B5EF4-FFF2-40B4-BE49-F238E27FC236}">
                <a16:creationId xmlns:a16="http://schemas.microsoft.com/office/drawing/2014/main" id="{13DC9939-C98D-4201-A30B-C0BCE05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demo-bullet">
            <a:extLst xmlns:a="http://schemas.openxmlformats.org/drawingml/2006/main">
              <a:ext uri="{FF2B5EF4-FFF2-40B4-BE49-F238E27FC236}">
                <a16:creationId xmlns:a16="http://schemas.microsoft.com/office/drawing/2014/main" id="{F15828B4-69EF-474D-8EBC-CC4E5858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386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Alerts flow to Telegram while SQLite logs support ChromaDB semantic search.</a:t>
            </a:r>
          </a:p>
        </p:txBody>
      </p:sp>
      <p:sp>
        <p:nvSpPr>
          <p:cNvPr id="23" name="chapter-panel">
            <a:extLst xmlns:a="http://schemas.openxmlformats.org/drawingml/2006/main">
              <a:ext uri="{FF2B5EF4-FFF2-40B4-BE49-F238E27FC236}">
                <a16:creationId xmlns:a16="http://schemas.microsoft.com/office/drawing/2014/main" id="{F1D9248A-A5F0-4B33-B34B-F2241AF3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533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42923"/>
          </a:solidFill>
          <a:ln xmlns:a="http://schemas.openxmlformats.org/drawingml/2006/main" w="9525">
            <a:solidFill>
              <a:srgbClr val="2F5146"/>
            </a:solidFill>
            <a:prstDash val="solid"/>
          </a:ln>
        </p:spPr>
      </p:sp>
      <p:sp>
        <p:nvSpPr>
          <p:cNvPr id="24" name="chapters-title">
            <a:extLst xmlns:a="http://schemas.openxmlformats.org/drawingml/2006/main">
              <a:ext uri="{FF2B5EF4-FFF2-40B4-BE49-F238E27FC236}">
                <a16:creationId xmlns:a16="http://schemas.microsoft.com/office/drawing/2014/main" id="{9D4E0265-3A9A-4ABE-8312-8565837D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EB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EEBDD"/>
                </a:solidFill>
                <a:latin typeface="Aptos"/>
                <a:ea typeface="Aptos"/>
                <a:cs typeface="Aptos"/>
              </a:rPr>
              <a:t>Useful chapters</a:t>
            </a:r>
          </a:p>
        </p:txBody>
      </p:sp>
      <p:sp>
        <p:nvSpPr>
          <p:cNvPr id="25" name="chapter-list">
            <a:extLst xmlns:a="http://schemas.openxmlformats.org/drawingml/2006/main">
              <a:ext uri="{FF2B5EF4-FFF2-40B4-BE49-F238E27FC236}">
                <a16:creationId xmlns:a16="http://schemas.microsoft.com/office/drawing/2014/main" id="{ABE0BFB2-10FF-4D20-BBE0-824B53DC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EE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8EEE7"/>
                </a:solidFill>
                <a:latin typeface="Aptos"/>
                <a:ea typeface="Aptos"/>
                <a:cs typeface="Aptos"/>
              </a:rPr>
              <a:t>00:00 overview | 03:34 processing | 05:32 alerts/logs | 06:45 night detection</a:t>
            </a:r>
          </a:p>
        </p:txBody>
      </p:sp>
      <p:sp>
        <p:nvSpPr>
          <p:cNvPr id="26" name="loom-url-link">
            <a:extLst xmlns:a="http://schemas.openxmlformats.org/drawingml/2006/main">
              <a:ext uri="{FF2B5EF4-FFF2-40B4-BE49-F238E27FC236}">
                <a16:creationId xmlns:a16="http://schemas.microsoft.com/office/drawing/2014/main" id="{92387556-7579-4253-BFBF-3C9A669E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381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6CFC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6CFC0"/>
                </a:solidFill>
                <a:latin typeface="Aptos"/>
                <a:ea typeface="Aptos"/>
                <a:cs typeface="Aptos"/>
                <a:hlinkClick xmlns:r="http://schemas.openxmlformats.org/officeDocument/2006/relationships" r:id="Rdd783def331848ce"/>
              </a:rPr>
              <a:t>https://www.loom.com/share/edf1db4b1fe8478a9639fade8c22fe8e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675287-5FBD-4556-BE58-8B6258B4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6"/>
          </a:solidFill>
          <a:ln xmlns:a="http://schemas.openxmlformats.org/drawingml/2006/main" w="0">
            <a:solidFill>
              <a:srgbClr val="D4DED6"/>
            </a:solidFill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DDAFB8-D8B9-4C42-A8DE-4F39B1F9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F66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D85F7F0-8169-44CF-A893-76654E24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F6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F66"/>
                </a:solidFill>
                <a:latin typeface="Aptos"/>
                <a:ea typeface="Aptos"/>
                <a:cs typeface="Aptos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0387187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A7B6468-ABE2-4689-B9CA-4B8B3762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B"/>
          </a:solidFill>
          <a:ln xmlns:a="http://schemas.openxmlformats.org/drawingml/2006/main" w="0">
            <a:solidFill>
              <a:srgbClr val="10201B"/>
            </a:solidFill>
            <a:prstDash val="solid"/>
          </a:ln>
        </p:spPr>
      </p:sp>
      <p:sp>
        <p:nvSpPr>
          <p:cNvPr id="2" name="team-bg">
            <a:extLst xmlns:a="http://schemas.openxmlformats.org/drawingml/2006/main">
              <a:ext uri="{FF2B5EF4-FFF2-40B4-BE49-F238E27FC236}">
                <a16:creationId xmlns:a16="http://schemas.microsoft.com/office/drawing/2014/main" id="{B4D90340-C436-4394-B446-12554596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B"/>
          </a:solidFill>
          <a:ln xmlns:a="http://schemas.openxmlformats.org/drawingml/2006/main" w="0">
            <a:solidFill>
              <a:srgbClr val="10201B"/>
            </a:solidFill>
            <a:prstDash val="solid"/>
          </a:ln>
        </p:spPr>
      </p:sp>
      <p:sp>
        <p:nvSpPr>
          <p:cNvPr id="3" name="team-rule">
            <a:extLst xmlns:a="http://schemas.openxmlformats.org/drawingml/2006/main">
              <a:ext uri="{FF2B5EF4-FFF2-40B4-BE49-F238E27FC236}">
                <a16:creationId xmlns:a16="http://schemas.microsoft.com/office/drawing/2014/main" id="{A80DAD80-8086-46CC-903C-312348E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8F564839-1E74-46CA-81F4-870102FC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EEB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EBDD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5" name="team-title">
            <a:extLst xmlns:a="http://schemas.openxmlformats.org/drawingml/2006/main">
              <a:ext uri="{FF2B5EF4-FFF2-40B4-BE49-F238E27FC236}">
                <a16:creationId xmlns:a16="http://schemas.microsoft.com/office/drawing/2014/main" id="{4A44F0F6-9AE0-42A5-9EE9-8E1BE446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Air Secure team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43E03A2-6CE2-4683-93F2-2EFBDB66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E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EE7"/>
                </a:solidFill>
                <a:latin typeface="Aptos"/>
                <a:ea typeface="Aptos"/>
                <a:cs typeface="Aptos"/>
              </a:rPr>
              <a:t>Built for the Codex Community Hackathon Pune submission on Loops House.</a:t>
            </a:r>
          </a:p>
        </p:txBody>
      </p:sp>
      <p:sp>
        <p:nvSpPr>
          <p:cNvPr id="7" name="team-divider">
            <a:extLst xmlns:a="http://schemas.openxmlformats.org/drawingml/2006/main">
              <a:ext uri="{FF2B5EF4-FFF2-40B4-BE49-F238E27FC236}">
                <a16:creationId xmlns:a16="http://schemas.microsoft.com/office/drawing/2014/main" id="{AD5A7B6E-A792-4F93-A38F-79422F0A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146"/>
          </a:solidFill>
          <a:ln xmlns:a="http://schemas.openxmlformats.org/drawingml/2006/main" w="0">
            <a:solidFill>
              <a:srgbClr val="2F5146"/>
            </a:solidFill>
            <a:prstDash val="solid"/>
          </a:ln>
        </p:spPr>
      </p:sp>
      <p:sp>
        <p:nvSpPr>
          <p:cNvPr id="8" name="member-card">
            <a:extLst xmlns:a="http://schemas.openxmlformats.org/drawingml/2006/main">
              <a:ext uri="{FF2B5EF4-FFF2-40B4-BE49-F238E27FC236}">
                <a16:creationId xmlns:a16="http://schemas.microsoft.com/office/drawing/2014/main" id="{E59EE7AF-C42F-4170-B0A5-86154ABD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9" name="member-initials">
            <a:extLst xmlns:a="http://schemas.openxmlformats.org/drawingml/2006/main">
              <a:ext uri="{FF2B5EF4-FFF2-40B4-BE49-F238E27FC236}">
                <a16:creationId xmlns:a16="http://schemas.microsoft.com/office/drawing/2014/main" id="{813359F9-EDBC-49F4-8F3C-4C730B40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0515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08C78"/>
          </a:solidFill>
          <a:ln xmlns:a="http://schemas.openxmlformats.org/drawingml/2006/main" w="0">
            <a:solidFill>
              <a:srgbClr val="008C78"/>
            </a:solidFill>
            <a:prstDash val="solid"/>
          </a:ln>
        </p:spPr>
      </p:sp>
      <p:sp>
        <p:nvSpPr>
          <p:cNvPr id="10" name="member-initials-text">
            <a:extLst xmlns:a="http://schemas.openxmlformats.org/drawingml/2006/main">
              <a:ext uri="{FF2B5EF4-FFF2-40B4-BE49-F238E27FC236}">
                <a16:creationId xmlns:a16="http://schemas.microsoft.com/office/drawing/2014/main" id="{C2446B2C-1508-4D70-BFE0-08D8C7C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3337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JS</a:t>
            </a:r>
          </a:p>
        </p:txBody>
      </p:sp>
      <p:sp>
        <p:nvSpPr>
          <p:cNvPr id="11" name="member-name">
            <a:extLst xmlns:a="http://schemas.openxmlformats.org/drawingml/2006/main">
              <a:ext uri="{FF2B5EF4-FFF2-40B4-BE49-F238E27FC236}">
                <a16:creationId xmlns:a16="http://schemas.microsoft.com/office/drawing/2014/main" id="{368D1F43-5F03-428D-BBB2-19EC196D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Jayesh Shete</a:t>
            </a:r>
          </a:p>
        </p:txBody>
      </p:sp>
      <p:sp>
        <p:nvSpPr>
          <p:cNvPr id="12" name="member-card">
            <a:extLst xmlns:a="http://schemas.openxmlformats.org/drawingml/2006/main">
              <a:ext uri="{FF2B5EF4-FFF2-40B4-BE49-F238E27FC236}">
                <a16:creationId xmlns:a16="http://schemas.microsoft.com/office/drawing/2014/main" id="{783635B7-C14C-43D5-83B0-D8F113B6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3" name="member-initials">
            <a:extLst xmlns:a="http://schemas.openxmlformats.org/drawingml/2006/main">
              <a:ext uri="{FF2B5EF4-FFF2-40B4-BE49-F238E27FC236}">
                <a16:creationId xmlns:a16="http://schemas.microsoft.com/office/drawing/2014/main" id="{B3FFCBC5-39FE-47C2-9450-4404009B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0515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B13E"/>
          </a:solidFill>
          <a:ln xmlns:a="http://schemas.openxmlformats.org/drawingml/2006/main" w="0">
            <a:solidFill>
              <a:srgbClr val="F2B13E"/>
            </a:solidFill>
            <a:prstDash val="solid"/>
          </a:ln>
        </p:spPr>
      </p:sp>
      <p:sp>
        <p:nvSpPr>
          <p:cNvPr id="14" name="member-initials-text">
            <a:extLst xmlns:a="http://schemas.openxmlformats.org/drawingml/2006/main">
              <a:ext uri="{FF2B5EF4-FFF2-40B4-BE49-F238E27FC236}">
                <a16:creationId xmlns:a16="http://schemas.microsoft.com/office/drawing/2014/main" id="{088DA47E-6455-4128-99D6-977C2DF3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337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</a:t>
            </a:r>
          </a:p>
        </p:txBody>
      </p:sp>
      <p:sp>
        <p:nvSpPr>
          <p:cNvPr id="15" name="member-name">
            <a:extLst xmlns:a="http://schemas.openxmlformats.org/drawingml/2006/main">
              <a:ext uri="{FF2B5EF4-FFF2-40B4-BE49-F238E27FC236}">
                <a16:creationId xmlns:a16="http://schemas.microsoft.com/office/drawing/2014/main" id="{FE8F2772-AD89-4024-8A0F-114DE151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14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Ravikant Agrawal</a:t>
            </a:r>
          </a:p>
        </p:txBody>
      </p:sp>
      <p:sp>
        <p:nvSpPr>
          <p:cNvPr id="16" name="member-card">
            <a:extLst xmlns:a="http://schemas.openxmlformats.org/drawingml/2006/main">
              <a:ext uri="{FF2B5EF4-FFF2-40B4-BE49-F238E27FC236}">
                <a16:creationId xmlns:a16="http://schemas.microsoft.com/office/drawing/2014/main" id="{11E16826-09DF-4E12-8834-45E829D5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952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7" name="member-initials">
            <a:extLst xmlns:a="http://schemas.openxmlformats.org/drawingml/2006/main">
              <a:ext uri="{FF2B5EF4-FFF2-40B4-BE49-F238E27FC236}">
                <a16:creationId xmlns:a16="http://schemas.microsoft.com/office/drawing/2014/main" id="{DAFF2E03-3735-4E95-9572-DD2D022F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05150"/>
            <a:ext cx="838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5D45"/>
          </a:solidFill>
          <a:ln xmlns:a="http://schemas.openxmlformats.org/drawingml/2006/main" w="0">
            <a:solidFill>
              <a:srgbClr val="D85D45"/>
            </a:solidFill>
            <a:prstDash val="solid"/>
          </a:ln>
        </p:spPr>
      </p:sp>
      <p:sp>
        <p:nvSpPr>
          <p:cNvPr id="18" name="member-initials-text">
            <a:extLst xmlns:a="http://schemas.openxmlformats.org/drawingml/2006/main">
              <a:ext uri="{FF2B5EF4-FFF2-40B4-BE49-F238E27FC236}">
                <a16:creationId xmlns:a16="http://schemas.microsoft.com/office/drawing/2014/main" id="{C7BBBEEB-B9DE-4156-996D-EB5E788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3375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</a:t>
            </a:r>
          </a:p>
        </p:txBody>
      </p:sp>
      <p:sp>
        <p:nvSpPr>
          <p:cNvPr id="19" name="member-name">
            <a:extLst xmlns:a="http://schemas.openxmlformats.org/drawingml/2006/main">
              <a:ext uri="{FF2B5EF4-FFF2-40B4-BE49-F238E27FC236}">
                <a16:creationId xmlns:a16="http://schemas.microsoft.com/office/drawing/2014/main" id="{061B7933-274D-4F02-BA0D-D27096A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2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1D"/>
                </a:solidFill>
                <a:latin typeface="Aptos"/>
                <a:ea typeface="Aptos"/>
                <a:cs typeface="Aptos"/>
              </a:rPr>
              <a:t>Harsh Agrawal</a:t>
            </a:r>
          </a:p>
        </p:txBody>
      </p:sp>
      <p:sp>
        <p:nvSpPr>
          <p:cNvPr id="20" name="closing-pill">
            <a:extLst xmlns:a="http://schemas.openxmlformats.org/drawingml/2006/main">
              <a:ext uri="{FF2B5EF4-FFF2-40B4-BE49-F238E27FC236}">
                <a16:creationId xmlns:a16="http://schemas.microsoft.com/office/drawing/2014/main" id="{68F437C6-BDCE-4273-9226-52FE92F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48250"/>
            <a:ext cx="5105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2C5F51"/>
            </a:solidFill>
            <a:prstDash val="solid"/>
          </a:ln>
        </p:spPr>
      </p:sp>
      <p:sp>
        <p:nvSpPr>
          <p:cNvPr id="21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5854D6BE-3C07-4D90-8119-467CC78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435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EEB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EEBDD"/>
                </a:solidFill>
                <a:latin typeface="Aptos"/>
                <a:ea typeface="Aptos"/>
                <a:cs typeface="Aptos"/>
              </a:rPr>
              <a:t>Air Secure: connected drone intelligence for enterprise security monitoring and surveillance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661DA79-97C0-4E9D-8B54-62C92210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146"/>
          </a:solidFill>
          <a:ln xmlns:a="http://schemas.openxmlformats.org/drawingml/2006/main" w="0">
            <a:solidFill>
              <a:srgbClr val="2F5146"/>
            </a:solidFill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4EDCB7-05C8-447D-963D-01F90A30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E5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5DC"/>
                </a:solidFill>
                <a:latin typeface="Aptos"/>
                <a:ea typeface="Aptos"/>
                <a:cs typeface="Aptos"/>
              </a:rPr>
              <a:t>Air Secure | Codex Community Hackathon Pune | Loops House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6E7DBA7-3F5B-4856-B408-472E510F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FE5D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FE5DC"/>
                </a:solidFill>
                <a:latin typeface="Aptos"/>
                <a:ea typeface="Aptos"/>
                <a:cs typeface="Aptos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622439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2026-06-14T20:27:36.9890000Z</dcterms:created>
  <dcterms:modified xsi:type="dcterms:W3CDTF">2026-06-14T20:27:36.9890000Z</dcterms:modified>
</coreProperties>
</file>