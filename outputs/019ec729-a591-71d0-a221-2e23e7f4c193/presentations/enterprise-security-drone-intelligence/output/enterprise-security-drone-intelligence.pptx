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157d96f4354e64" /><Relationship Type="http://schemas.openxmlformats.org/officeDocument/2006/relationships/extended-properties" Target="/docProps/app.xml" Id="Ree2ea66500cf4df0" /><Relationship Type="http://schemas.openxmlformats.org/officeDocument/2006/relationships/officeDocument" Target="/ppt/presentation.xml" Id="Ra32026ce840f45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505ba975e2499e"/>
  </p:sldMasterIdLst>
  <p:notesMasterIdLst>
    <p:notesMasterId xmlns:r="http://schemas.openxmlformats.org/officeDocument/2006/relationships" r:id="R39dd308039c94c61"/>
  </p:notesMasterIdLst>
  <p:sldIdLst>
    <p:sldId xmlns:r="http://schemas.openxmlformats.org/officeDocument/2006/relationships" id="256" r:id="Rf43029f713c84f69"/>
    <p:sldId xmlns:r="http://schemas.openxmlformats.org/officeDocument/2006/relationships" id="257" r:id="R1387b957d4d74fda"/>
    <p:sldId xmlns:r="http://schemas.openxmlformats.org/officeDocument/2006/relationships" id="258" r:id="R32ac2428be004ec6"/>
    <p:sldId xmlns:r="http://schemas.openxmlformats.org/officeDocument/2006/relationships" id="259" r:id="R9d7af7d5b76d4e17"/>
    <p:sldId xmlns:r="http://schemas.openxmlformats.org/officeDocument/2006/relationships" id="260" r:id="R8cde0f0a00724351"/>
    <p:sldId xmlns:r="http://schemas.openxmlformats.org/officeDocument/2006/relationships" id="261" r:id="Rd705834df1854e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a5b7a459aa4e83" /><Relationship Type="http://schemas.openxmlformats.org/officeDocument/2006/relationships/slideMaster" Target="/ppt/slideMasters/slideMaster1.xml" Id="R40505ba975e2499e" /><Relationship Type="http://schemas.openxmlformats.org/officeDocument/2006/relationships/notesMaster" Target="/ppt/notesMasters/notesMaster1.xml" Id="R39dd308039c94c61" /><Relationship Type="http://schemas.openxmlformats.org/officeDocument/2006/relationships/presProps" Target="/ppt/presProps.xml" Id="R3ad76177f3db4372" /><Relationship Type="http://schemas.openxmlformats.org/officeDocument/2006/relationships/viewProps" Target="/ppt/viewProps.xml" Id="R5563329d7ff94684" /><Relationship Type="http://schemas.openxmlformats.org/officeDocument/2006/relationships/tableStyles" Target="/ppt/tableStyles.xml" Id="R1869d56efe7045eb" /><Relationship Type="http://schemas.openxmlformats.org/officeDocument/2006/relationships/slide" Target="/ppt/slides/slide1.xml" Id="Rf43029f713c84f69" /><Relationship Type="http://schemas.openxmlformats.org/officeDocument/2006/relationships/slide" Target="/ppt/slides/slide2.xml" Id="R1387b957d4d74fda" /><Relationship Type="http://schemas.openxmlformats.org/officeDocument/2006/relationships/slide" Target="/ppt/slides/slide3.xml" Id="R32ac2428be004ec6" /><Relationship Type="http://schemas.openxmlformats.org/officeDocument/2006/relationships/slide" Target="/ppt/slides/slide4.xml" Id="R9d7af7d5b76d4e17" /><Relationship Type="http://schemas.openxmlformats.org/officeDocument/2006/relationships/slide" Target="/ppt/slides/slide5.xml" Id="R8cde0f0a00724351" /><Relationship Type="http://schemas.openxmlformats.org/officeDocument/2006/relationships/slide" Target="/ppt/slides/slide6.xml" Id="Rd705834df1854e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76f701e4214b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0cdd674dde4efe" /><Relationship Type="http://schemas.openxmlformats.org/officeDocument/2006/relationships/notesMaster" Target="/ppt/notesMasters/notesMaster1.xml" Id="Rb5d1e5b9d6784a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66a12c017648cd" /><Relationship Type="http://schemas.openxmlformats.org/officeDocument/2006/relationships/notesMaster" Target="/ppt/notesMasters/notesMaster1.xml" Id="R2cb155d8706b4e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145b0f28954723" /><Relationship Type="http://schemas.openxmlformats.org/officeDocument/2006/relationships/notesMaster" Target="/ppt/notesMasters/notesMaster1.xml" Id="R3a9be369c2144f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f78ebe864947c4" /><Relationship Type="http://schemas.openxmlformats.org/officeDocument/2006/relationships/notesMaster" Target="/ppt/notesMasters/notesMaster1.xml" Id="R049db38e8d3546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0e0968a24e4c5e" /><Relationship Type="http://schemas.openxmlformats.org/officeDocument/2006/relationships/notesMaster" Target="/ppt/notesMasters/notesMaster1.xml" Id="R916c73d0eb2040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fa1af4264140e3" /><Relationship Type="http://schemas.openxmlformats.org/officeDocument/2006/relationships/notesMaster" Target="/ppt/notesMasters/notesMaster1.xml" Id="Rfcfc7455a3e944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a7e3fe63d4f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7322d9b9fb45cd" /><Relationship Type="http://schemas.openxmlformats.org/officeDocument/2006/relationships/slideLayout" Target="/ppt/slideLayouts/slideLayout1.xml" Id="Re093e00d59b44d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93e00d59b44d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cfdc75e3e492a" /><Relationship Type="http://schemas.openxmlformats.org/officeDocument/2006/relationships/notesSlide" Target="/ppt/notesSlides/notesSlide1.xml" Id="R8228ee3e641f45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eefa5e9cc418c" /><Relationship Type="http://schemas.openxmlformats.org/officeDocument/2006/relationships/notesSlide" Target="/ppt/notesSlides/notesSlide2.xml" Id="Rf9f2643e760b45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f1bfe6f3a4c0f" /><Relationship Type="http://schemas.openxmlformats.org/officeDocument/2006/relationships/notesSlide" Target="/ppt/notesSlides/notesSlide3.xml" Id="Rd528386c8d394a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ada60cc564aec" /><Relationship Type="http://schemas.openxmlformats.org/officeDocument/2006/relationships/notesSlide" Target="/ppt/notesSlides/notesSlide4.xml" Id="Rf16acc772fcc4d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cfa1a112f412d" /><Relationship Type="http://schemas.openxmlformats.org/officeDocument/2006/relationships/notesSlide" Target="/ppt/notesSlides/notesSlide5.xml" Id="R785fe71a3f4c4d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13e92ed504054" /><Relationship Type="http://schemas.openxmlformats.org/officeDocument/2006/relationships/notesSlide" Target="/ppt/notesSlides/notesSlide6.xml" Id="Rc418a874532545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67DDC28-8ABF-47AD-AFA5-8481FE8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B"/>
          </a:solidFill>
          <a:ln xmlns:a="http://schemas.openxmlformats.org/drawingml/2006/main" w="0">
            <a:solidFill>
              <a:srgbClr val="0E141B"/>
            </a:solidFill>
            <a:prstDash val="solid"/>
          </a:ln>
        </p:spPr>
      </p:sp>
      <p:sp>
        <p:nvSpPr>
          <p:cNvPr id="2" name="grid-v-80">
            <a:extLst xmlns:a="http://schemas.openxmlformats.org/drawingml/2006/main">
              <a:ext uri="{FF2B5EF4-FFF2-40B4-BE49-F238E27FC236}">
                <a16:creationId xmlns:a16="http://schemas.microsoft.com/office/drawing/2014/main" id="{8BD27700-D6FE-49CF-B567-8433A845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3" name="grid-v-160">
            <a:extLst xmlns:a="http://schemas.openxmlformats.org/drawingml/2006/main">
              <a:ext uri="{FF2B5EF4-FFF2-40B4-BE49-F238E27FC236}">
                <a16:creationId xmlns:a16="http://schemas.microsoft.com/office/drawing/2014/main" id="{236F80FA-FC57-45BD-BEDA-0299C20A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4" name="grid-v-240">
            <a:extLst xmlns:a="http://schemas.openxmlformats.org/drawingml/2006/main">
              <a:ext uri="{FF2B5EF4-FFF2-40B4-BE49-F238E27FC236}">
                <a16:creationId xmlns:a16="http://schemas.microsoft.com/office/drawing/2014/main" id="{EDDB3FB4-5E49-4AEB-A8D1-63ED8230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5" name="grid-v-320">
            <a:extLst xmlns:a="http://schemas.openxmlformats.org/drawingml/2006/main">
              <a:ext uri="{FF2B5EF4-FFF2-40B4-BE49-F238E27FC236}">
                <a16:creationId xmlns:a16="http://schemas.microsoft.com/office/drawing/2014/main" id="{F80DE99C-3A9A-4F67-81F3-A2839072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6" name="grid-v-400">
            <a:extLst xmlns:a="http://schemas.openxmlformats.org/drawingml/2006/main">
              <a:ext uri="{FF2B5EF4-FFF2-40B4-BE49-F238E27FC236}">
                <a16:creationId xmlns:a16="http://schemas.microsoft.com/office/drawing/2014/main" id="{487CFEAB-C8FB-4199-856B-FEB37EA1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7" name="grid-v-480">
            <a:extLst xmlns:a="http://schemas.openxmlformats.org/drawingml/2006/main">
              <a:ext uri="{FF2B5EF4-FFF2-40B4-BE49-F238E27FC236}">
                <a16:creationId xmlns:a16="http://schemas.microsoft.com/office/drawing/2014/main" id="{D3FB361E-481C-4D78-B8C4-0DBC2A7E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8" name="grid-v-560">
            <a:extLst xmlns:a="http://schemas.openxmlformats.org/drawingml/2006/main">
              <a:ext uri="{FF2B5EF4-FFF2-40B4-BE49-F238E27FC236}">
                <a16:creationId xmlns:a16="http://schemas.microsoft.com/office/drawing/2014/main" id="{B9DDDD5D-5F66-44C0-A51D-08ED03DE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9" name="grid-v-640">
            <a:extLst xmlns:a="http://schemas.openxmlformats.org/drawingml/2006/main">
              <a:ext uri="{FF2B5EF4-FFF2-40B4-BE49-F238E27FC236}">
                <a16:creationId xmlns:a16="http://schemas.microsoft.com/office/drawing/2014/main" id="{8F8FF2B3-733A-4CC7-8D75-257C7624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0" name="grid-v-720">
            <a:extLst xmlns:a="http://schemas.openxmlformats.org/drawingml/2006/main">
              <a:ext uri="{FF2B5EF4-FFF2-40B4-BE49-F238E27FC236}">
                <a16:creationId xmlns:a16="http://schemas.microsoft.com/office/drawing/2014/main" id="{37791376-9A47-4A11-A176-88400BDB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1" name="grid-v-800">
            <a:extLst xmlns:a="http://schemas.openxmlformats.org/drawingml/2006/main">
              <a:ext uri="{FF2B5EF4-FFF2-40B4-BE49-F238E27FC236}">
                <a16:creationId xmlns:a16="http://schemas.microsoft.com/office/drawing/2014/main" id="{E0BDE6BE-08BB-47D7-872E-0011F22E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2" name="grid-v-880">
            <a:extLst xmlns:a="http://schemas.openxmlformats.org/drawingml/2006/main">
              <a:ext uri="{FF2B5EF4-FFF2-40B4-BE49-F238E27FC236}">
                <a16:creationId xmlns:a16="http://schemas.microsoft.com/office/drawing/2014/main" id="{B417C1FA-EBE4-4255-88AE-494C7234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3" name="grid-v-960">
            <a:extLst xmlns:a="http://schemas.openxmlformats.org/drawingml/2006/main">
              <a:ext uri="{FF2B5EF4-FFF2-40B4-BE49-F238E27FC236}">
                <a16:creationId xmlns:a16="http://schemas.microsoft.com/office/drawing/2014/main" id="{16F085FF-10BF-4A69-8CCC-F7501D57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4" name="grid-v-1040">
            <a:extLst xmlns:a="http://schemas.openxmlformats.org/drawingml/2006/main">
              <a:ext uri="{FF2B5EF4-FFF2-40B4-BE49-F238E27FC236}">
                <a16:creationId xmlns:a16="http://schemas.microsoft.com/office/drawing/2014/main" id="{FB77E7C9-AAF0-4BBD-AAA9-A4E2F458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5" name="grid-v-1120">
            <a:extLst xmlns:a="http://schemas.openxmlformats.org/drawingml/2006/main">
              <a:ext uri="{FF2B5EF4-FFF2-40B4-BE49-F238E27FC236}">
                <a16:creationId xmlns:a16="http://schemas.microsoft.com/office/drawing/2014/main" id="{786D9CEE-5E26-40D3-85F6-DC10EDD1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6" name="grid-v-1200">
            <a:extLst xmlns:a="http://schemas.openxmlformats.org/drawingml/2006/main">
              <a:ext uri="{FF2B5EF4-FFF2-40B4-BE49-F238E27FC236}">
                <a16:creationId xmlns:a16="http://schemas.microsoft.com/office/drawing/2014/main" id="{A2E13B1D-00DB-4B8B-B63D-5E688EBA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7" name="grid-h-80">
            <a:extLst xmlns:a="http://schemas.openxmlformats.org/drawingml/2006/main">
              <a:ext uri="{FF2B5EF4-FFF2-40B4-BE49-F238E27FC236}">
                <a16:creationId xmlns:a16="http://schemas.microsoft.com/office/drawing/2014/main" id="{46FD5086-E0C3-4F4C-BB44-606EE058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8" name="grid-h-160">
            <a:extLst xmlns:a="http://schemas.openxmlformats.org/drawingml/2006/main">
              <a:ext uri="{FF2B5EF4-FFF2-40B4-BE49-F238E27FC236}">
                <a16:creationId xmlns:a16="http://schemas.microsoft.com/office/drawing/2014/main" id="{FE2A7CAA-A1B3-4869-B705-337C99E2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9" name="grid-h-240">
            <a:extLst xmlns:a="http://schemas.openxmlformats.org/drawingml/2006/main">
              <a:ext uri="{FF2B5EF4-FFF2-40B4-BE49-F238E27FC236}">
                <a16:creationId xmlns:a16="http://schemas.microsoft.com/office/drawing/2014/main" id="{828E475B-309E-4CFC-A820-066338F6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0" name="grid-h-320">
            <a:extLst xmlns:a="http://schemas.openxmlformats.org/drawingml/2006/main">
              <a:ext uri="{FF2B5EF4-FFF2-40B4-BE49-F238E27FC236}">
                <a16:creationId xmlns:a16="http://schemas.microsoft.com/office/drawing/2014/main" id="{BF149F2F-B66D-424C-B8F4-17C9F687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1" name="grid-h-400">
            <a:extLst xmlns:a="http://schemas.openxmlformats.org/drawingml/2006/main">
              <a:ext uri="{FF2B5EF4-FFF2-40B4-BE49-F238E27FC236}">
                <a16:creationId xmlns:a16="http://schemas.microsoft.com/office/drawing/2014/main" id="{87ACCF4F-0741-4401-8475-A336DEEF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2" name="grid-h-480">
            <a:extLst xmlns:a="http://schemas.openxmlformats.org/drawingml/2006/main">
              <a:ext uri="{FF2B5EF4-FFF2-40B4-BE49-F238E27FC236}">
                <a16:creationId xmlns:a16="http://schemas.microsoft.com/office/drawing/2014/main" id="{E8474371-E22F-400A-869B-75CB109E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3" name="grid-h-560">
            <a:extLst xmlns:a="http://schemas.openxmlformats.org/drawingml/2006/main">
              <a:ext uri="{FF2B5EF4-FFF2-40B4-BE49-F238E27FC236}">
                <a16:creationId xmlns:a16="http://schemas.microsoft.com/office/drawing/2014/main" id="{FC8932DA-BC14-4371-84CA-C92C250B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4" name="grid-h-640">
            <a:extLst xmlns:a="http://schemas.openxmlformats.org/drawingml/2006/main">
              <a:ext uri="{FF2B5EF4-FFF2-40B4-BE49-F238E27FC236}">
                <a16:creationId xmlns:a16="http://schemas.microsoft.com/office/drawing/2014/main" id="{FAABED12-7020-4821-B96C-30BC437F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E5F4465-CEB3-430A-8E24-3CA2376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B46"/>
          </a:solidFill>
          <a:ln xmlns:a="http://schemas.openxmlformats.org/drawingml/2006/main" w="0">
            <a:solidFill>
              <a:srgbClr val="2F3B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571720-34F1-4101-9330-AE0167C0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Hackathon concept | enterprise security monitoring and surveillance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05791B-858E-48FB-9AA7-424D9EA4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28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B65AEB90-FA5E-4536-911D-B732EAC1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29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AB78545B-4F0E-491B-B0EB-31799E3F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rPr>
              <a:t>CONNECTED AERIAL INTELLIGENCE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4EFB11-8A97-4D85-9FA3-AD7DCC5B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Connected drones make enterprise sites observable, responsive, and safer.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671B2F-AC24-4719-9638-8074EBDC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A security fabric for large campuses, plants, ports, warehouses, utilities, and industrial zones where fixed cameras, patrols, and siloed alarms leave gaps.</a:t>
            </a:r>
          </a:p>
        </p:txBody>
      </p:sp>
      <p:sp>
        <p:nvSpPr>
          <p:cNvPr id="32" name="concept-label-box">
            <a:extLst xmlns:a="http://schemas.openxmlformats.org/drawingml/2006/main">
              <a:ext uri="{FF2B5EF4-FFF2-40B4-BE49-F238E27FC236}">
                <a16:creationId xmlns:a16="http://schemas.microsoft.com/office/drawing/2014/main" id="{13790D52-F9BF-449C-BE3B-46522D60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5D3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8863FC-6D37-402F-AA38-A960BD83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HACKATHON SUBMISSION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D50FCE-F195-4076-8CB7-D233AC9F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7675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Enterprise security monitoring + surveillance</a:t>
            </a:r>
          </a:p>
        </p:txBody>
      </p:sp>
      <p:sp>
        <p:nvSpPr>
          <p:cNvPr id="35" name="site-map-frame">
            <a:extLst xmlns:a="http://schemas.openxmlformats.org/drawingml/2006/main">
              <a:ext uri="{FF2B5EF4-FFF2-40B4-BE49-F238E27FC236}">
                <a16:creationId xmlns:a16="http://schemas.microsoft.com/office/drawing/2014/main" id="{3932BE7E-8EA1-4B9D-9064-C8E68A5D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69532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36" name="warehouse-zone">
            <a:extLst xmlns:a="http://schemas.openxmlformats.org/drawingml/2006/main">
              <a:ext uri="{FF2B5EF4-FFF2-40B4-BE49-F238E27FC236}">
                <a16:creationId xmlns:a16="http://schemas.microsoft.com/office/drawing/2014/main" id="{711A1152-BCB9-4967-8E73-077B918E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37" name="utility-zone">
            <a:extLst xmlns:a="http://schemas.openxmlformats.org/drawingml/2006/main">
              <a:ext uri="{FF2B5EF4-FFF2-40B4-BE49-F238E27FC236}">
                <a16:creationId xmlns:a16="http://schemas.microsoft.com/office/drawing/2014/main" id="{2C57B01E-C24C-4F3E-8623-A8379DE2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28950"/>
            <a:ext cx="2876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38" name="yard-zone">
            <a:extLst xmlns:a="http://schemas.openxmlformats.org/drawingml/2006/main">
              <a:ext uri="{FF2B5EF4-FFF2-40B4-BE49-F238E27FC236}">
                <a16:creationId xmlns:a16="http://schemas.microsoft.com/office/drawing/2014/main" id="{1C526CA5-1B7A-4E59-AC62-A05860F2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39" name="gate-zone">
            <a:extLst xmlns:a="http://schemas.openxmlformats.org/drawingml/2006/main">
              <a:ext uri="{FF2B5EF4-FFF2-40B4-BE49-F238E27FC236}">
                <a16:creationId xmlns:a16="http://schemas.microsoft.com/office/drawing/2014/main" id="{D13F1254-6C1B-407C-89F9-49A494E1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1638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1CEBC8-BA87-4115-8FFC-AF6BFC2A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E8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F7E8D"/>
                </a:solidFill>
                <a:latin typeface="Aptos Mono"/>
                <a:ea typeface="Aptos Mono"/>
                <a:cs typeface="Aptos Mono"/>
              </a:rPr>
              <a:t>WAREHOUSE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62C7A9-3620-4727-A532-8B978F79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813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E8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F7E8D"/>
                </a:solidFill>
                <a:latin typeface="Aptos Mono"/>
                <a:ea typeface="Aptos Mono"/>
                <a:cs typeface="Aptos Mono"/>
              </a:rPr>
              <a:t>UTILITY YARD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9DB4D3-C149-4F13-B237-8C382F93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1485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E8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F7E8D"/>
                </a:solidFill>
                <a:latin typeface="Aptos Mono"/>
                <a:ea typeface="Aptos Mono"/>
                <a:cs typeface="Aptos Mono"/>
              </a:rPr>
              <a:t>STAGING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ECD8D8-E189-4CDF-82C8-31966AC2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148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E8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F7E8D"/>
                </a:solidFill>
                <a:latin typeface="Aptos Mono"/>
                <a:ea typeface="Aptos Mono"/>
                <a:cs typeface="Aptos Mono"/>
              </a:rPr>
              <a:t>GATE 3</a:t>
            </a:r>
          </a:p>
        </p:txBody>
      </p:sp>
      <p:sp>
        <p:nvSpPr>
          <p:cNvPr id="44" name="patrol-radius-1">
            <a:extLst xmlns:a="http://schemas.openxmlformats.org/drawingml/2006/main">
              <a:ext uri="{FF2B5EF4-FFF2-40B4-BE49-F238E27FC236}">
                <a16:creationId xmlns:a16="http://schemas.microsoft.com/office/drawing/2014/main" id="{DA461C77-D9DC-417E-AAAD-A50B390C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766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C5968"/>
            </a:solidFill>
            <a:prstDash val="solid"/>
          </a:ln>
        </p:spPr>
      </p:sp>
      <p:sp>
        <p:nvSpPr>
          <p:cNvPr id="45" name="patrol-radius-2">
            <a:extLst xmlns:a="http://schemas.openxmlformats.org/drawingml/2006/main">
              <a:ext uri="{FF2B5EF4-FFF2-40B4-BE49-F238E27FC236}">
                <a16:creationId xmlns:a16="http://schemas.microsoft.com/office/drawing/2014/main" id="{AD0C29F0-387F-43BB-820F-1E3F4822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48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F5C40"/>
            </a:solidFill>
            <a:prstDash val="solid"/>
          </a:ln>
        </p:spPr>
      </p:sp>
      <p:sp>
        <p:nvSpPr>
          <p:cNvPr id="46" name="patrol-radius-3">
            <a:extLst xmlns:a="http://schemas.openxmlformats.org/drawingml/2006/main">
              <a:ext uri="{FF2B5EF4-FFF2-40B4-BE49-F238E27FC236}">
                <a16:creationId xmlns:a16="http://schemas.microsoft.com/office/drawing/2014/main" id="{CDB45CCF-348E-418C-9D1C-FAA54224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291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6F4B13"/>
            </a:solidFill>
            <a:prstDash val="solid"/>
          </a:ln>
        </p:spPr>
      </p:sp>
      <p:sp>
        <p:nvSpPr>
          <p:cNvPr id="47" name="drone-1">
            <a:extLst xmlns:a="http://schemas.openxmlformats.org/drawingml/2006/main">
              <a:ext uri="{FF2B5EF4-FFF2-40B4-BE49-F238E27FC236}">
                <a16:creationId xmlns:a16="http://schemas.microsoft.com/office/drawing/2014/main" id="{FC966779-F1B4-4461-94FC-30245082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76700"/>
            <a:ext cx="247650" cy="2476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9525">
            <a:solidFill>
              <a:srgbClr val="35D3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274A94-393B-4CCC-BA02-0D20F400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8150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D1</a:t>
            </a:r>
          </a:p>
        </p:txBody>
      </p:sp>
      <p:sp>
        <p:nvSpPr>
          <p:cNvPr id="49" name="drone-2">
            <a:extLst xmlns:a="http://schemas.openxmlformats.org/drawingml/2006/main">
              <a:ext uri="{FF2B5EF4-FFF2-40B4-BE49-F238E27FC236}">
                <a16:creationId xmlns:a16="http://schemas.microsoft.com/office/drawing/2014/main" id="{49BC6463-9E95-44B1-8140-158D8390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943350"/>
            <a:ext cx="247650" cy="2476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68D079-576E-4877-B7F8-42CF36BB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481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8D99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8D996"/>
                </a:solidFill>
                <a:latin typeface="Aptos Mono"/>
                <a:ea typeface="Aptos Mono"/>
                <a:cs typeface="Aptos Mono"/>
              </a:rPr>
              <a:t>D2</a:t>
            </a:r>
          </a:p>
        </p:txBody>
      </p:sp>
      <p:sp>
        <p:nvSpPr>
          <p:cNvPr id="51" name="drone-3">
            <a:extLst xmlns:a="http://schemas.openxmlformats.org/drawingml/2006/main">
              <a:ext uri="{FF2B5EF4-FFF2-40B4-BE49-F238E27FC236}">
                <a16:creationId xmlns:a16="http://schemas.microsoft.com/office/drawing/2014/main" id="{1CA9CB9E-17FB-4EB6-B512-E8821936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10150"/>
            <a:ext cx="247650" cy="2476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5ED88B-3119-46C6-AD72-1465B564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149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D3</a:t>
            </a:r>
          </a:p>
        </p:txBody>
      </p:sp>
      <p:sp>
        <p:nvSpPr>
          <p:cNvPr id="53" name="drone-mesh-1">
            <a:extLst xmlns:a="http://schemas.openxmlformats.org/drawingml/2006/main">
              <a:ext uri="{FF2B5EF4-FFF2-40B4-BE49-F238E27FC236}">
                <a16:creationId xmlns:a16="http://schemas.microsoft.com/office/drawing/2014/main" id="{5BCC34D7-D60B-4BB3-8DBE-1D48D2C1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00525"/>
            <a:ext cx="2762250" cy="-1333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5D3E6"/>
            </a:solidFill>
            <a:prstDash val="solid"/>
          </a:ln>
        </p:spPr>
      </p:sp>
      <p:sp>
        <p:nvSpPr>
          <p:cNvPr id="54" name="drone-mesh-2">
            <a:extLst xmlns:a="http://schemas.openxmlformats.org/drawingml/2006/main">
              <a:ext uri="{FF2B5EF4-FFF2-40B4-BE49-F238E27FC236}">
                <a16:creationId xmlns:a16="http://schemas.microsoft.com/office/drawing/2014/main" id="{9A7B9AFA-7322-4FD2-961E-ADDB12F0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67175"/>
            <a:ext cx="723900" cy="1066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8D996"/>
            </a:solidFill>
            <a:prstDash val="solid"/>
          </a:ln>
        </p:spPr>
      </p:sp>
      <p:sp>
        <p:nvSpPr>
          <p:cNvPr id="55" name="drone-mesh-3">
            <a:extLst xmlns:a="http://schemas.openxmlformats.org/drawingml/2006/main">
              <a:ext uri="{FF2B5EF4-FFF2-40B4-BE49-F238E27FC236}">
                <a16:creationId xmlns:a16="http://schemas.microsoft.com/office/drawing/2014/main" id="{D9E62B1E-61DD-405E-B9A5-B6AFFEED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00525"/>
            <a:ext cx="3486150" cy="9334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FFB84D"/>
            </a:solidFill>
            <a:prstDash val="solid"/>
          </a:ln>
        </p:spPr>
      </p:sp>
      <p:sp>
        <p:nvSpPr>
          <p:cNvPr id="56" name="cover-tag-1">
            <a:extLst xmlns:a="http://schemas.openxmlformats.org/drawingml/2006/main">
              <a:ext uri="{FF2B5EF4-FFF2-40B4-BE49-F238E27FC236}">
                <a16:creationId xmlns:a16="http://schemas.microsoft.com/office/drawing/2014/main" id="{E1C21AB4-164A-4294-9B09-036AA09D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816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5D3E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814CFD-DBF8-4591-AF6A-D89ECC05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2922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SENSOR FUSION</a:t>
            </a:r>
          </a:p>
        </p:txBody>
      </p:sp>
      <p:sp>
        <p:nvSpPr>
          <p:cNvPr id="58" name="cover-tag-2">
            <a:extLst xmlns:a="http://schemas.openxmlformats.org/drawingml/2006/main">
              <a:ext uri="{FF2B5EF4-FFF2-40B4-BE49-F238E27FC236}">
                <a16:creationId xmlns:a16="http://schemas.microsoft.com/office/drawing/2014/main" id="{0D339FA8-EFEF-4CC5-8B2D-93894941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816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EAA2DB-FA6A-4E85-8E6C-29A0663C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2922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EDGE AI</a:t>
            </a:r>
          </a:p>
        </p:txBody>
      </p:sp>
      <p:sp>
        <p:nvSpPr>
          <p:cNvPr id="60" name="cover-tag-3">
            <a:extLst xmlns:a="http://schemas.openxmlformats.org/drawingml/2006/main">
              <a:ext uri="{FF2B5EF4-FFF2-40B4-BE49-F238E27FC236}">
                <a16:creationId xmlns:a16="http://schemas.microsoft.com/office/drawing/2014/main" id="{37F6E45A-C29A-4EAF-9DCF-0A7CCE1E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816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D643AC-6335-436C-8A8E-376838A6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29225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SOC READY</a:t>
            </a:r>
          </a:p>
        </p:txBody>
      </p:sp>
      <p:sp>
        <p:nvSpPr>
          <p:cNvPr id="62" name="cover-tag-4">
            <a:extLst xmlns:a="http://schemas.openxmlformats.org/drawingml/2006/main">
              <a:ext uri="{FF2B5EF4-FFF2-40B4-BE49-F238E27FC236}">
                <a16:creationId xmlns:a16="http://schemas.microsoft.com/office/drawing/2014/main" id="{D5EAE262-68DA-4AC8-8DED-21AB3C47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816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9B7C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074CBB-70FC-424E-8312-E0F99630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29225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ZERO TRUST</a:t>
            </a:r>
          </a:p>
        </p:txBody>
      </p:sp>
      <p:sp>
        <p:nvSpPr>
          <p:cNvPr id="64" name="metric-connected coverage">
            <a:extLst xmlns:a="http://schemas.openxmlformats.org/drawingml/2006/main">
              <a:ext uri="{FF2B5EF4-FFF2-40B4-BE49-F238E27FC236}">
                <a16:creationId xmlns:a16="http://schemas.microsoft.com/office/drawing/2014/main" id="{2C27B921-ABB8-440F-8D5D-AEEC7443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19050">
            <a:solidFill>
              <a:srgbClr val="35D3E6"/>
            </a:solidFill>
            <a:prstDash val="solid"/>
          </a:ln>
        </p:spPr>
      </p:sp>
      <p:sp>
        <p:nvSpPr>
          <p:cNvPr id="65" name="metric-connected coverage-bar">
            <a:extLst xmlns:a="http://schemas.openxmlformats.org/drawingml/2006/main">
              <a:ext uri="{FF2B5EF4-FFF2-40B4-BE49-F238E27FC236}">
                <a16:creationId xmlns:a16="http://schemas.microsoft.com/office/drawing/2014/main" id="{5D4BF3B2-102E-45C9-BA92-B7C34B67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C3E369-F2E4-4200-9D7A-6E38BCBE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52775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24x7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A12F4A-DC43-46FE-A7B2-AE249D99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57575"/>
            <a:ext cx="2305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connected coverage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A8253A-BE31-4C61-856F-847D4C69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patrol routes + event-triggered launch</a:t>
            </a:r>
          </a:p>
        </p:txBody>
      </p:sp>
      <p:sp>
        <p:nvSpPr>
          <p:cNvPr id="69" name="metric-triage target">
            <a:extLst xmlns:a="http://schemas.openxmlformats.org/drawingml/2006/main">
              <a:ext uri="{FF2B5EF4-FFF2-40B4-BE49-F238E27FC236}">
                <a16:creationId xmlns:a16="http://schemas.microsoft.com/office/drawing/2014/main" id="{4DA51BDA-1C5E-4365-A726-719DF869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005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70" name="metric-triage target-bar">
            <a:extLst xmlns:a="http://schemas.openxmlformats.org/drawingml/2006/main">
              <a:ext uri="{FF2B5EF4-FFF2-40B4-BE49-F238E27FC236}">
                <a16:creationId xmlns:a16="http://schemas.microsoft.com/office/drawing/2014/main" id="{30C4F54B-FF29-4F00-AC2D-73D2166C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00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C22C3F-3B00-456E-B4F0-45788C06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24325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&lt;5 min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CE8A7D-5C42-4DF4-B495-1AFE59E5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2305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triage target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CC4A9F0-1B37-4617-AEBC-24E1AF0C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00575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alert to verified incident packet</a:t>
            </a:r>
          </a:p>
        </p:txBody>
      </p:sp>
      <p:sp>
        <p:nvSpPr>
          <p:cNvPr id="74" name="metric-human exposure">
            <a:extLst xmlns:a="http://schemas.openxmlformats.org/drawingml/2006/main">
              <a:ext uri="{FF2B5EF4-FFF2-40B4-BE49-F238E27FC236}">
                <a16:creationId xmlns:a16="http://schemas.microsoft.com/office/drawing/2014/main" id="{7C0BB719-FE4C-488B-9E7E-C204A5F8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7205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19050">
            <a:solidFill>
              <a:srgbClr val="38D996"/>
            </a:solidFill>
            <a:prstDash val="solid"/>
          </a:ln>
        </p:spPr>
      </p:sp>
      <p:sp>
        <p:nvSpPr>
          <p:cNvPr id="75" name="metric-human exposure-bar">
            <a:extLst xmlns:a="http://schemas.openxmlformats.org/drawingml/2006/main">
              <a:ext uri="{FF2B5EF4-FFF2-40B4-BE49-F238E27FC236}">
                <a16:creationId xmlns:a16="http://schemas.microsoft.com/office/drawing/2014/main" id="{CD506CC4-CA66-4EAE-AB06-C6C6CE72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72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38D99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3CAAF64-8C8F-4E8E-A2BD-77148275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95875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lower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FB3F01-4825-4D8C-AD82-28C28F7C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00675"/>
            <a:ext cx="2305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99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D996"/>
                </a:solidFill>
                <a:latin typeface="Aptos Mono"/>
                <a:ea typeface="Aptos Mono"/>
                <a:cs typeface="Aptos Mono"/>
              </a:rPr>
              <a:t>human exposure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5EB952-582E-467B-9A1F-F3EA0055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72125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inspect hazardous zones remotely first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50B58D8-02C6-4FDC-A5A2-710E48DF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Concept name:</a:t>
            </a:r>
          </a:p>
          <a:p xmlns:a="http://schemas.openxmlformats.org/drawingml/2006/main">
            <a:pPr algn="l">
              <a:def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AegisGrid DroneOps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523E04D-0FFF-45DE-BA82-720B6999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Autonomous aerial verification connected to security, safety, and operations systems.</a:t>
            </a:r>
          </a:p>
        </p:txBody>
      </p:sp>
    </p:spTree>
    <p:extLst>
      <p:ext uri="{BB962C8B-B14F-4D97-AF65-F5344CB8AC3E}">
        <p14:creationId xmlns:p14="http://schemas.microsoft.com/office/powerpoint/2010/main" val="11358164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E3BA371-A981-432A-8FA5-B783B6CC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B"/>
          </a:solidFill>
          <a:ln xmlns:a="http://schemas.openxmlformats.org/drawingml/2006/main" w="0">
            <a:solidFill>
              <a:srgbClr val="0E141B"/>
            </a:solidFill>
            <a:prstDash val="solid"/>
          </a:ln>
        </p:spPr>
      </p:sp>
      <p:sp>
        <p:nvSpPr>
          <p:cNvPr id="2" name="grid-v-80">
            <a:extLst xmlns:a="http://schemas.openxmlformats.org/drawingml/2006/main">
              <a:ext uri="{FF2B5EF4-FFF2-40B4-BE49-F238E27FC236}">
                <a16:creationId xmlns:a16="http://schemas.microsoft.com/office/drawing/2014/main" id="{6ABB301A-4C8F-44BD-BB30-A2FF448E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3" name="grid-v-160">
            <a:extLst xmlns:a="http://schemas.openxmlformats.org/drawingml/2006/main">
              <a:ext uri="{FF2B5EF4-FFF2-40B4-BE49-F238E27FC236}">
                <a16:creationId xmlns:a16="http://schemas.microsoft.com/office/drawing/2014/main" id="{09922DEE-E66C-4199-9B63-8FD7584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4" name="grid-v-240">
            <a:extLst xmlns:a="http://schemas.openxmlformats.org/drawingml/2006/main">
              <a:ext uri="{FF2B5EF4-FFF2-40B4-BE49-F238E27FC236}">
                <a16:creationId xmlns:a16="http://schemas.microsoft.com/office/drawing/2014/main" id="{E93DB2C2-EAA0-475E-99E8-A32DBF5C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5" name="grid-v-320">
            <a:extLst xmlns:a="http://schemas.openxmlformats.org/drawingml/2006/main">
              <a:ext uri="{FF2B5EF4-FFF2-40B4-BE49-F238E27FC236}">
                <a16:creationId xmlns:a16="http://schemas.microsoft.com/office/drawing/2014/main" id="{A86F322D-8985-44F2-BA0A-42FAF510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6" name="grid-v-400">
            <a:extLst xmlns:a="http://schemas.openxmlformats.org/drawingml/2006/main">
              <a:ext uri="{FF2B5EF4-FFF2-40B4-BE49-F238E27FC236}">
                <a16:creationId xmlns:a16="http://schemas.microsoft.com/office/drawing/2014/main" id="{375ACE72-5D88-4231-8472-1CEA88D7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7" name="grid-v-480">
            <a:extLst xmlns:a="http://schemas.openxmlformats.org/drawingml/2006/main">
              <a:ext uri="{FF2B5EF4-FFF2-40B4-BE49-F238E27FC236}">
                <a16:creationId xmlns:a16="http://schemas.microsoft.com/office/drawing/2014/main" id="{14B9DA1F-8D24-4389-A3C3-67C1DB49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8" name="grid-v-560">
            <a:extLst xmlns:a="http://schemas.openxmlformats.org/drawingml/2006/main">
              <a:ext uri="{FF2B5EF4-FFF2-40B4-BE49-F238E27FC236}">
                <a16:creationId xmlns:a16="http://schemas.microsoft.com/office/drawing/2014/main" id="{BDE6ECA4-25B4-4D56-938E-E6B42199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9" name="grid-v-640">
            <a:extLst xmlns:a="http://schemas.openxmlformats.org/drawingml/2006/main">
              <a:ext uri="{FF2B5EF4-FFF2-40B4-BE49-F238E27FC236}">
                <a16:creationId xmlns:a16="http://schemas.microsoft.com/office/drawing/2014/main" id="{1A026D1C-E94D-44FB-AE8E-373EC1FF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0" name="grid-v-720">
            <a:extLst xmlns:a="http://schemas.openxmlformats.org/drawingml/2006/main">
              <a:ext uri="{FF2B5EF4-FFF2-40B4-BE49-F238E27FC236}">
                <a16:creationId xmlns:a16="http://schemas.microsoft.com/office/drawing/2014/main" id="{C7BFC4BF-877C-4DFB-97DF-0DD3BF8D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1" name="grid-v-800">
            <a:extLst xmlns:a="http://schemas.openxmlformats.org/drawingml/2006/main">
              <a:ext uri="{FF2B5EF4-FFF2-40B4-BE49-F238E27FC236}">
                <a16:creationId xmlns:a16="http://schemas.microsoft.com/office/drawing/2014/main" id="{5B76D0D7-C7C7-41D4-AE9E-261E3C3E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2" name="grid-v-880">
            <a:extLst xmlns:a="http://schemas.openxmlformats.org/drawingml/2006/main">
              <a:ext uri="{FF2B5EF4-FFF2-40B4-BE49-F238E27FC236}">
                <a16:creationId xmlns:a16="http://schemas.microsoft.com/office/drawing/2014/main" id="{04366159-83BB-4853-8D70-AB78F27F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3" name="grid-v-960">
            <a:extLst xmlns:a="http://schemas.openxmlformats.org/drawingml/2006/main">
              <a:ext uri="{FF2B5EF4-FFF2-40B4-BE49-F238E27FC236}">
                <a16:creationId xmlns:a16="http://schemas.microsoft.com/office/drawing/2014/main" id="{76181029-FFE1-47D7-9611-C0C16C68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4" name="grid-v-1040">
            <a:extLst xmlns:a="http://schemas.openxmlformats.org/drawingml/2006/main">
              <a:ext uri="{FF2B5EF4-FFF2-40B4-BE49-F238E27FC236}">
                <a16:creationId xmlns:a16="http://schemas.microsoft.com/office/drawing/2014/main" id="{B944A1B5-325F-4F85-B5C6-47FAA5F1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5" name="grid-v-1120">
            <a:extLst xmlns:a="http://schemas.openxmlformats.org/drawingml/2006/main">
              <a:ext uri="{FF2B5EF4-FFF2-40B4-BE49-F238E27FC236}">
                <a16:creationId xmlns:a16="http://schemas.microsoft.com/office/drawing/2014/main" id="{DB32686A-7232-4BBA-AA37-AA458CAD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6" name="grid-v-1200">
            <a:extLst xmlns:a="http://schemas.openxmlformats.org/drawingml/2006/main">
              <a:ext uri="{FF2B5EF4-FFF2-40B4-BE49-F238E27FC236}">
                <a16:creationId xmlns:a16="http://schemas.microsoft.com/office/drawing/2014/main" id="{552D7075-96C7-429C-99AD-9CA14674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7" name="grid-h-80">
            <a:extLst xmlns:a="http://schemas.openxmlformats.org/drawingml/2006/main">
              <a:ext uri="{FF2B5EF4-FFF2-40B4-BE49-F238E27FC236}">
                <a16:creationId xmlns:a16="http://schemas.microsoft.com/office/drawing/2014/main" id="{226DAFB6-BCFB-4AC1-80BA-F0A90146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8" name="grid-h-160">
            <a:extLst xmlns:a="http://schemas.openxmlformats.org/drawingml/2006/main">
              <a:ext uri="{FF2B5EF4-FFF2-40B4-BE49-F238E27FC236}">
                <a16:creationId xmlns:a16="http://schemas.microsoft.com/office/drawing/2014/main" id="{FC8AF7E7-40AD-4404-875C-A47A0C89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9" name="grid-h-240">
            <a:extLst xmlns:a="http://schemas.openxmlformats.org/drawingml/2006/main">
              <a:ext uri="{FF2B5EF4-FFF2-40B4-BE49-F238E27FC236}">
                <a16:creationId xmlns:a16="http://schemas.microsoft.com/office/drawing/2014/main" id="{03E0F44A-BCD0-4842-A83A-C1E87F44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0" name="grid-h-320">
            <a:extLst xmlns:a="http://schemas.openxmlformats.org/drawingml/2006/main">
              <a:ext uri="{FF2B5EF4-FFF2-40B4-BE49-F238E27FC236}">
                <a16:creationId xmlns:a16="http://schemas.microsoft.com/office/drawing/2014/main" id="{DF28EDE3-674E-4194-AC90-F091680F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1" name="grid-h-400">
            <a:extLst xmlns:a="http://schemas.openxmlformats.org/drawingml/2006/main">
              <a:ext uri="{FF2B5EF4-FFF2-40B4-BE49-F238E27FC236}">
                <a16:creationId xmlns:a16="http://schemas.microsoft.com/office/drawing/2014/main" id="{AB86C187-0896-44FC-B9D4-B62368F1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2" name="grid-h-480">
            <a:extLst xmlns:a="http://schemas.openxmlformats.org/drawingml/2006/main">
              <a:ext uri="{FF2B5EF4-FFF2-40B4-BE49-F238E27FC236}">
                <a16:creationId xmlns:a16="http://schemas.microsoft.com/office/drawing/2014/main" id="{25A5115B-E0D6-4872-BDD7-47F54B19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3" name="grid-h-560">
            <a:extLst xmlns:a="http://schemas.openxmlformats.org/drawingml/2006/main">
              <a:ext uri="{FF2B5EF4-FFF2-40B4-BE49-F238E27FC236}">
                <a16:creationId xmlns:a16="http://schemas.microsoft.com/office/drawing/2014/main" id="{8BC7E59A-913C-4E84-83DD-DFC28C69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4" name="grid-h-640">
            <a:extLst xmlns:a="http://schemas.openxmlformats.org/drawingml/2006/main">
              <a:ext uri="{FF2B5EF4-FFF2-40B4-BE49-F238E27FC236}">
                <a16:creationId xmlns:a16="http://schemas.microsoft.com/office/drawing/2014/main" id="{D691B6A2-6961-448F-8ADC-D1C81FC7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9E67D1C-4A92-46E4-8B8C-FC6821F6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B46"/>
          </a:solidFill>
          <a:ln xmlns:a="http://schemas.openxmlformats.org/drawingml/2006/main" w="0">
            <a:solidFill>
              <a:srgbClr val="2F3B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4EF2FB-14D0-4D10-BA8F-0190110A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Hackathon concept | enterprise security monitoring and surveillance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01FCE5-332C-4F70-96F2-99CE5708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8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D379FF90-4812-4FA9-ACBD-D1B5427A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9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EF4ED90E-5AF5-47BD-8E1A-80ADA761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rPr>
              <a:t>RISK SURFACE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59C85-05E9-4FC4-AD8E-70642D0F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33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Large enterprise sites fail where fixed cameras and manual patrols cannot correlate context.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EC5158-02D2-4DC1-8246-C452F60C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The security problem is not a lack of cameras. It is the time gap between weak signals, verified truth, and safe response across a distributed physical environment.</a:t>
            </a:r>
          </a:p>
        </p:txBody>
      </p:sp>
      <p:sp>
        <p:nvSpPr>
          <p:cNvPr id="32" name="matrix-header-bg">
            <a:extLst xmlns:a="http://schemas.openxmlformats.org/drawingml/2006/main">
              <a:ext uri="{FF2B5EF4-FFF2-40B4-BE49-F238E27FC236}">
                <a16:creationId xmlns:a16="http://schemas.microsoft.com/office/drawing/2014/main" id="{DC59F14D-08D1-4A4D-A175-B501DCE3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38350"/>
            <a:ext cx="640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33" name="col-0">
            <a:extLst xmlns:a="http://schemas.openxmlformats.org/drawingml/2006/main">
              <a:ext uri="{FF2B5EF4-FFF2-40B4-BE49-F238E27FC236}">
                <a16:creationId xmlns:a16="http://schemas.microsoft.com/office/drawing/2014/main" id="{210EB193-5E2B-43D8-AE58-A5E94E92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383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29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4BBE25-428F-4450-9AA9-98B1C141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Perimeter</a:t>
            </a:r>
          </a:p>
        </p:txBody>
      </p:sp>
      <p:sp>
        <p:nvSpPr>
          <p:cNvPr id="35" name="col-1">
            <a:extLst xmlns:a="http://schemas.openxmlformats.org/drawingml/2006/main">
              <a:ext uri="{FF2B5EF4-FFF2-40B4-BE49-F238E27FC236}">
                <a16:creationId xmlns:a16="http://schemas.microsoft.com/office/drawing/2014/main" id="{4B16C473-9B10-4028-993B-60F56F79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383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3279D4-881D-46EA-BC43-A7E756C5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Critical assets</a:t>
            </a:r>
          </a:p>
        </p:txBody>
      </p:sp>
      <p:sp>
        <p:nvSpPr>
          <p:cNvPr id="37" name="col-2">
            <a:extLst xmlns:a="http://schemas.openxmlformats.org/drawingml/2006/main">
              <a:ext uri="{FF2B5EF4-FFF2-40B4-BE49-F238E27FC236}">
                <a16:creationId xmlns:a16="http://schemas.microsoft.com/office/drawing/2014/main" id="{8C72FFA1-26D4-481A-99F3-904130D6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F29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E28DC9-6382-442A-8357-5A1D215F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336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People</a:t>
            </a:r>
          </a:p>
        </p:txBody>
      </p:sp>
      <p:sp>
        <p:nvSpPr>
          <p:cNvPr id="39" name="col-3">
            <a:extLst xmlns:a="http://schemas.openxmlformats.org/drawingml/2006/main">
              <a:ext uri="{FF2B5EF4-FFF2-40B4-BE49-F238E27FC236}">
                <a16:creationId xmlns:a16="http://schemas.microsoft.com/office/drawing/2014/main" id="{DCBB2216-2B2C-4511-998E-31F8C756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1B43CB-6BD6-4ECB-A966-BB0AA073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41" name="row-label-0">
            <a:extLst xmlns:a="http://schemas.openxmlformats.org/drawingml/2006/main">
              <a:ext uri="{FF2B5EF4-FFF2-40B4-BE49-F238E27FC236}">
                <a16:creationId xmlns:a16="http://schemas.microsoft.com/office/drawing/2014/main" id="{E8CDBC4D-513B-46A4-B015-2026CF4E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95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0BDC64-978A-4C63-AAB0-EF7B9BF2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5C63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5C63"/>
                </a:solidFill>
                <a:latin typeface="Aptos Mono"/>
                <a:ea typeface="Aptos Mono"/>
                <a:cs typeface="Aptos Mono"/>
              </a:rPr>
              <a:t>BLIND SPOT</a:t>
            </a:r>
          </a:p>
        </p:txBody>
      </p:sp>
      <p:sp>
        <p:nvSpPr>
          <p:cNvPr id="43" name="cell-0-0">
            <a:extLst xmlns:a="http://schemas.openxmlformats.org/drawingml/2006/main">
              <a:ext uri="{FF2B5EF4-FFF2-40B4-BE49-F238E27FC236}">
                <a16:creationId xmlns:a16="http://schemas.microsoft.com/office/drawing/2014/main" id="{4CF2B589-4975-41B4-8728-59D5C089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7650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44" name="cell-accent-0-0">
            <a:extLst xmlns:a="http://schemas.openxmlformats.org/drawingml/2006/main">
              <a:ext uri="{FF2B5EF4-FFF2-40B4-BE49-F238E27FC236}">
                <a16:creationId xmlns:a16="http://schemas.microsoft.com/office/drawing/2014/main" id="{1DFA4E00-D5E1-4774-B845-F3EAEDA6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76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63"/>
          </a:solidFill>
          <a:ln xmlns:a="http://schemas.openxmlformats.org/drawingml/2006/main" w="0">
            <a:solidFill>
              <a:srgbClr val="FF5C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D77BC9-0455-4D3B-B3C1-7525979F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860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Fence breach</a:t>
            </a:r>
          </a:p>
        </p:txBody>
      </p:sp>
      <p:sp>
        <p:nvSpPr>
          <p:cNvPr id="46" name="cell-0-1">
            <a:extLst xmlns:a="http://schemas.openxmlformats.org/drawingml/2006/main">
              <a:ext uri="{FF2B5EF4-FFF2-40B4-BE49-F238E27FC236}">
                <a16:creationId xmlns:a16="http://schemas.microsoft.com/office/drawing/2014/main" id="{96EF895D-0923-4235-B58D-8A294533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7650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47" name="cell-accent-0-1">
            <a:extLst xmlns:a="http://schemas.openxmlformats.org/drawingml/2006/main">
              <a:ext uri="{FF2B5EF4-FFF2-40B4-BE49-F238E27FC236}">
                <a16:creationId xmlns:a16="http://schemas.microsoft.com/office/drawing/2014/main" id="{C5D64A37-D35D-4100-9063-7F857177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76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63"/>
          </a:solidFill>
          <a:ln xmlns:a="http://schemas.openxmlformats.org/drawingml/2006/main" w="0">
            <a:solidFill>
              <a:srgbClr val="FF5C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635981-A2FD-4C34-98A1-41C1484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860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Substation tamper</a:t>
            </a:r>
          </a:p>
        </p:txBody>
      </p:sp>
      <p:sp>
        <p:nvSpPr>
          <p:cNvPr id="49" name="cell-0-2">
            <a:extLst xmlns:a="http://schemas.openxmlformats.org/drawingml/2006/main">
              <a:ext uri="{FF2B5EF4-FFF2-40B4-BE49-F238E27FC236}">
                <a16:creationId xmlns:a16="http://schemas.microsoft.com/office/drawing/2014/main" id="{41CAA6B4-E9C4-4878-800B-4F4E053A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50" name="cell-accent-0-2">
            <a:extLst xmlns:a="http://schemas.openxmlformats.org/drawingml/2006/main">
              <a:ext uri="{FF2B5EF4-FFF2-40B4-BE49-F238E27FC236}">
                <a16:creationId xmlns:a16="http://schemas.microsoft.com/office/drawing/2014/main" id="{4F5D407C-D0B8-45AF-82F7-894CF757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63"/>
          </a:solidFill>
          <a:ln xmlns:a="http://schemas.openxmlformats.org/drawingml/2006/main" w="0">
            <a:solidFill>
              <a:srgbClr val="FF5C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B16657-D2D4-458B-BE5D-746589E6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860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Lone worker</a:t>
            </a:r>
          </a:p>
        </p:txBody>
      </p:sp>
      <p:sp>
        <p:nvSpPr>
          <p:cNvPr id="52" name="cell-0-3">
            <a:extLst xmlns:a="http://schemas.openxmlformats.org/drawingml/2006/main">
              <a:ext uri="{FF2B5EF4-FFF2-40B4-BE49-F238E27FC236}">
                <a16:creationId xmlns:a16="http://schemas.microsoft.com/office/drawing/2014/main" id="{77AFF242-C196-4517-9F66-56FC2D79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53" name="cell-accent-0-3">
            <a:extLst xmlns:a="http://schemas.openxmlformats.org/drawingml/2006/main">
              <a:ext uri="{FF2B5EF4-FFF2-40B4-BE49-F238E27FC236}">
                <a16:creationId xmlns:a16="http://schemas.microsoft.com/office/drawing/2014/main" id="{BB8B51C0-3BBF-4D99-BEE6-F7597192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63"/>
          </a:solidFill>
          <a:ln xmlns:a="http://schemas.openxmlformats.org/drawingml/2006/main" w="0">
            <a:solidFill>
              <a:srgbClr val="FF5C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6B5979-DBA6-48D2-A173-46C19BDF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Smoke / leak</a:t>
            </a:r>
          </a:p>
        </p:txBody>
      </p:sp>
      <p:sp>
        <p:nvSpPr>
          <p:cNvPr id="55" name="row-label-1">
            <a:extLst xmlns:a="http://schemas.openxmlformats.org/drawingml/2006/main">
              <a:ext uri="{FF2B5EF4-FFF2-40B4-BE49-F238E27FC236}">
                <a16:creationId xmlns:a16="http://schemas.microsoft.com/office/drawing/2014/main" id="{AB21A43C-8538-4470-9FB2-1FC50603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95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95F636-979F-43E5-90D5-C790DE57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DELAY</a:t>
            </a:r>
          </a:p>
        </p:txBody>
      </p:sp>
      <p:sp>
        <p:nvSpPr>
          <p:cNvPr id="57" name="cell-1-0">
            <a:extLst xmlns:a="http://schemas.openxmlformats.org/drawingml/2006/main">
              <a:ext uri="{FF2B5EF4-FFF2-40B4-BE49-F238E27FC236}">
                <a16:creationId xmlns:a16="http://schemas.microsoft.com/office/drawing/2014/main" id="{C55BD15A-8B5E-4956-9C78-76AFBA5B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4325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58" name="cell-accent-1-0">
            <a:extLst xmlns:a="http://schemas.openxmlformats.org/drawingml/2006/main">
              <a:ext uri="{FF2B5EF4-FFF2-40B4-BE49-F238E27FC236}">
                <a16:creationId xmlns:a16="http://schemas.microsoft.com/office/drawing/2014/main" id="{7FF69A70-9003-479C-9F69-B0EC6EC7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432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F3CD68D-8EE5-4AFF-B2F0-9F9F9F53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Manual dispatch</a:t>
            </a:r>
          </a:p>
        </p:txBody>
      </p:sp>
      <p:sp>
        <p:nvSpPr>
          <p:cNvPr id="60" name="cell-1-1">
            <a:extLst xmlns:a="http://schemas.openxmlformats.org/drawingml/2006/main">
              <a:ext uri="{FF2B5EF4-FFF2-40B4-BE49-F238E27FC236}">
                <a16:creationId xmlns:a16="http://schemas.microsoft.com/office/drawing/2014/main" id="{59262E38-B4D5-4092-8D87-544074D0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4325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61" name="cell-accent-1-1">
            <a:extLst xmlns:a="http://schemas.openxmlformats.org/drawingml/2006/main">
              <a:ext uri="{FF2B5EF4-FFF2-40B4-BE49-F238E27FC236}">
                <a16:creationId xmlns:a16="http://schemas.microsoft.com/office/drawing/2014/main" id="{EDF8087D-4C4A-46E8-A233-C503425D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432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65A482-E609-4850-A4E9-866C2F15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Static CCTV review</a:t>
            </a:r>
          </a:p>
        </p:txBody>
      </p:sp>
      <p:sp>
        <p:nvSpPr>
          <p:cNvPr id="63" name="cell-1-2">
            <a:extLst xmlns:a="http://schemas.openxmlformats.org/drawingml/2006/main">
              <a:ext uri="{FF2B5EF4-FFF2-40B4-BE49-F238E27FC236}">
                <a16:creationId xmlns:a16="http://schemas.microsoft.com/office/drawing/2014/main" id="{233443EC-4B58-41E5-822B-1AEF06C8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64" name="cell-accent-1-2">
            <a:extLst xmlns:a="http://schemas.openxmlformats.org/drawingml/2006/main">
              <a:ext uri="{FF2B5EF4-FFF2-40B4-BE49-F238E27FC236}">
                <a16:creationId xmlns:a16="http://schemas.microsoft.com/office/drawing/2014/main" id="{17A1ABB6-6C2A-48D3-AC86-7A11435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F4C9BA-4C7E-458B-B723-0B52BFB9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528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Radio escalation</a:t>
            </a:r>
          </a:p>
        </p:txBody>
      </p:sp>
      <p:sp>
        <p:nvSpPr>
          <p:cNvPr id="66" name="cell-1-3">
            <a:extLst xmlns:a="http://schemas.openxmlformats.org/drawingml/2006/main">
              <a:ext uri="{FF2B5EF4-FFF2-40B4-BE49-F238E27FC236}">
                <a16:creationId xmlns:a16="http://schemas.microsoft.com/office/drawing/2014/main" id="{EC903258-2E0B-4BBF-8DF1-9F3325A3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67" name="cell-accent-1-3">
            <a:extLst xmlns:a="http://schemas.openxmlformats.org/drawingml/2006/main">
              <a:ext uri="{FF2B5EF4-FFF2-40B4-BE49-F238E27FC236}">
                <a16:creationId xmlns:a16="http://schemas.microsoft.com/office/drawing/2014/main" id="{0DC0597C-391A-4DD0-8C7C-53BD2C8A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9DE641-AE3B-44C2-A7F1-4A6C1C59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EHS handoff</a:t>
            </a:r>
          </a:p>
        </p:txBody>
      </p:sp>
      <p:sp>
        <p:nvSpPr>
          <p:cNvPr id="69" name="row-label-2">
            <a:extLst xmlns:a="http://schemas.openxmlformats.org/drawingml/2006/main">
              <a:ext uri="{FF2B5EF4-FFF2-40B4-BE49-F238E27FC236}">
                <a16:creationId xmlns:a16="http://schemas.microsoft.com/office/drawing/2014/main" id="{463D86F3-A7D2-42F4-93C8-D2BB7B96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95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CFFC0B-0AA2-4341-8F71-DBCC054A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IMPACT</a:t>
            </a:r>
          </a:p>
        </p:txBody>
      </p:sp>
      <p:sp>
        <p:nvSpPr>
          <p:cNvPr id="71" name="cell-2-0">
            <a:extLst xmlns:a="http://schemas.openxmlformats.org/drawingml/2006/main">
              <a:ext uri="{FF2B5EF4-FFF2-40B4-BE49-F238E27FC236}">
                <a16:creationId xmlns:a16="http://schemas.microsoft.com/office/drawing/2014/main" id="{DE3F5FC3-380A-4771-9CAC-766E4EF1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72" name="cell-accent-2-0">
            <a:extLst xmlns:a="http://schemas.openxmlformats.org/drawingml/2006/main">
              <a:ext uri="{FF2B5EF4-FFF2-40B4-BE49-F238E27FC236}">
                <a16:creationId xmlns:a16="http://schemas.microsoft.com/office/drawing/2014/main" id="{4A205F64-889C-4487-A668-9A759685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ABF2CE-C2A5-4CFA-BC57-F0904BC2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95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Theft / sabotage</a:t>
            </a:r>
          </a:p>
        </p:txBody>
      </p:sp>
      <p:sp>
        <p:nvSpPr>
          <p:cNvPr id="74" name="cell-2-1">
            <a:extLst xmlns:a="http://schemas.openxmlformats.org/drawingml/2006/main">
              <a:ext uri="{FF2B5EF4-FFF2-40B4-BE49-F238E27FC236}">
                <a16:creationId xmlns:a16="http://schemas.microsoft.com/office/drawing/2014/main" id="{2831CB09-8679-49A7-806D-BADC1412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75" name="cell-accent-2-1">
            <a:extLst xmlns:a="http://schemas.openxmlformats.org/drawingml/2006/main">
              <a:ext uri="{FF2B5EF4-FFF2-40B4-BE49-F238E27FC236}">
                <a16:creationId xmlns:a16="http://schemas.microsoft.com/office/drawing/2014/main" id="{942E011B-6E12-4A72-A576-54BE46F8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94A0C44-26E3-4CB8-A810-B6296138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195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Downtime risk</a:t>
            </a:r>
          </a:p>
        </p:txBody>
      </p:sp>
      <p:sp>
        <p:nvSpPr>
          <p:cNvPr id="77" name="cell-2-2">
            <a:extLst xmlns:a="http://schemas.openxmlformats.org/drawingml/2006/main">
              <a:ext uri="{FF2B5EF4-FFF2-40B4-BE49-F238E27FC236}">
                <a16:creationId xmlns:a16="http://schemas.microsoft.com/office/drawing/2014/main" id="{D65A0DFC-0B5A-41A9-AE19-CBE675E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78" name="cell-accent-2-2">
            <a:extLst xmlns:a="http://schemas.openxmlformats.org/drawingml/2006/main">
              <a:ext uri="{FF2B5EF4-FFF2-40B4-BE49-F238E27FC236}">
                <a16:creationId xmlns:a16="http://schemas.microsoft.com/office/drawing/2014/main" id="{5576B8B1-7A40-401E-8763-5E08B582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C1C7D44-8A17-40E5-8CBB-2DD898D3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195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Life-safety risk</a:t>
            </a:r>
          </a:p>
        </p:txBody>
      </p:sp>
      <p:sp>
        <p:nvSpPr>
          <p:cNvPr id="80" name="cell-2-3">
            <a:extLst xmlns:a="http://schemas.openxmlformats.org/drawingml/2006/main">
              <a:ext uri="{FF2B5EF4-FFF2-40B4-BE49-F238E27FC236}">
                <a16:creationId xmlns:a16="http://schemas.microsoft.com/office/drawing/2014/main" id="{A8E7F366-4B89-4713-A4D4-B990C913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2F3B46"/>
            </a:solidFill>
            <a:prstDash val="solid"/>
          </a:ln>
        </p:spPr>
      </p:sp>
      <p:sp>
        <p:nvSpPr>
          <p:cNvPr id="81" name="cell-accent-2-3">
            <a:extLst xmlns:a="http://schemas.openxmlformats.org/drawingml/2006/main">
              <a:ext uri="{FF2B5EF4-FFF2-40B4-BE49-F238E27FC236}">
                <a16:creationId xmlns:a16="http://schemas.microsoft.com/office/drawing/2014/main" id="{56C045E3-FC46-4755-9E6F-552D267C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51852F3-A8BE-4FC2-BE45-2E901EA5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Compliance exposure</a:t>
            </a:r>
          </a:p>
        </p:txBody>
      </p:sp>
      <p:sp>
        <p:nvSpPr>
          <p:cNvPr id="83" name="blindspot-callout">
            <a:extLst xmlns:a="http://schemas.openxmlformats.org/drawingml/2006/main">
              <a:ext uri="{FF2B5EF4-FFF2-40B4-BE49-F238E27FC236}">
                <a16:creationId xmlns:a16="http://schemas.microsoft.com/office/drawing/2014/main" id="{51AD77A1-A197-4366-9D38-449EB0E2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3028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19050">
            <a:solidFill>
              <a:srgbClr val="FF5C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2152B5B-16DF-49E8-8CF8-365326CD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05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Why connected aerial intelligence matters</a:t>
            </a:r>
          </a:p>
        </p:txBody>
      </p:sp>
      <p:sp>
        <p:nvSpPr>
          <p:cNvPr id="85" name="callout-bullet-0">
            <a:extLst xmlns:a="http://schemas.openxmlformats.org/drawingml/2006/main">
              <a:ext uri="{FF2B5EF4-FFF2-40B4-BE49-F238E27FC236}">
                <a16:creationId xmlns:a16="http://schemas.microsoft.com/office/drawing/2014/main" id="{6122DE4F-886E-474E-B353-2FF6B524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63"/>
          </a:solidFill>
          <a:ln xmlns:a="http://schemas.openxmlformats.org/drawingml/2006/main" w="0">
            <a:solidFill>
              <a:srgbClr val="FF5C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AD14FE-7BDF-4F0E-B574-F99F3F68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Validate alarms before sending people into uncertain zones.</a:t>
            </a:r>
          </a:p>
        </p:txBody>
      </p:sp>
      <p:sp>
        <p:nvSpPr>
          <p:cNvPr id="87" name="callout-bullet-1">
            <a:extLst xmlns:a="http://schemas.openxmlformats.org/drawingml/2006/main">
              <a:ext uri="{FF2B5EF4-FFF2-40B4-BE49-F238E27FC236}">
                <a16:creationId xmlns:a16="http://schemas.microsoft.com/office/drawing/2014/main" id="{AD119C64-12F3-4F7C-B985-442C2A56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63"/>
          </a:solidFill>
          <a:ln xmlns:a="http://schemas.openxmlformats.org/drawingml/2006/main" w="0">
            <a:solidFill>
              <a:srgbClr val="FF5C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CBC15A8-33B4-44FE-82A6-199F6BA6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Correlate telemetry before escalating to the SOC.</a:t>
            </a:r>
          </a:p>
        </p:txBody>
      </p:sp>
      <p:sp>
        <p:nvSpPr>
          <p:cNvPr id="89" name="callout-bullet-2">
            <a:extLst xmlns:a="http://schemas.openxmlformats.org/drawingml/2006/main">
              <a:ext uri="{FF2B5EF4-FFF2-40B4-BE49-F238E27FC236}">
                <a16:creationId xmlns:a16="http://schemas.microsoft.com/office/drawing/2014/main" id="{84594EAC-E2D8-4FC9-9FF8-6D7E9812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63"/>
          </a:solidFill>
          <a:ln xmlns:a="http://schemas.openxmlformats.org/drawingml/2006/main" w="0">
            <a:solidFill>
              <a:srgbClr val="FF5C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651CF83-A03B-4A3F-8984-7BA06F37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Reach blind spots fixed camera topology misses.</a:t>
            </a:r>
          </a:p>
        </p:txBody>
      </p:sp>
      <p:sp>
        <p:nvSpPr>
          <p:cNvPr id="91" name="risk-summary">
            <a:extLst xmlns:a="http://schemas.openxmlformats.org/drawingml/2006/main">
              <a:ext uri="{FF2B5EF4-FFF2-40B4-BE49-F238E27FC236}">
                <a16:creationId xmlns:a16="http://schemas.microsoft.com/office/drawing/2014/main" id="{EE80008F-0D6F-4FE8-A606-DA6403BE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815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9BB9275-87D6-4A9F-9D82-E0659BC6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911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Core thesis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E8B5506-3C91-4340-8331-BE29A39E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00650"/>
            <a:ext cx="2495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Risk falls when verified events are enriched automatically and routed to the right response owner.</a:t>
            </a:r>
          </a:p>
        </p:txBody>
      </p:sp>
    </p:spTree>
    <p:extLst>
      <p:ext uri="{BB962C8B-B14F-4D97-AF65-F5344CB8AC3E}">
        <p14:creationId xmlns:p14="http://schemas.microsoft.com/office/powerpoint/2010/main" val="7628946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6F01B05-6AED-48F8-A2D1-A8ECAFD7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B"/>
          </a:solidFill>
          <a:ln xmlns:a="http://schemas.openxmlformats.org/drawingml/2006/main" w="0">
            <a:solidFill>
              <a:srgbClr val="0E141B"/>
            </a:solidFill>
            <a:prstDash val="solid"/>
          </a:ln>
        </p:spPr>
      </p:sp>
      <p:sp>
        <p:nvSpPr>
          <p:cNvPr id="2" name="grid-v-80">
            <a:extLst xmlns:a="http://schemas.openxmlformats.org/drawingml/2006/main">
              <a:ext uri="{FF2B5EF4-FFF2-40B4-BE49-F238E27FC236}">
                <a16:creationId xmlns:a16="http://schemas.microsoft.com/office/drawing/2014/main" id="{C96430D4-E6D0-4393-A06C-AEE51913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3" name="grid-v-160">
            <a:extLst xmlns:a="http://schemas.openxmlformats.org/drawingml/2006/main">
              <a:ext uri="{FF2B5EF4-FFF2-40B4-BE49-F238E27FC236}">
                <a16:creationId xmlns:a16="http://schemas.microsoft.com/office/drawing/2014/main" id="{A780DD92-57F7-4C08-82AD-638AA62F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4" name="grid-v-240">
            <a:extLst xmlns:a="http://schemas.openxmlformats.org/drawingml/2006/main">
              <a:ext uri="{FF2B5EF4-FFF2-40B4-BE49-F238E27FC236}">
                <a16:creationId xmlns:a16="http://schemas.microsoft.com/office/drawing/2014/main" id="{FCD6073D-57B5-4AF0-8EA0-48A7A485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5" name="grid-v-320">
            <a:extLst xmlns:a="http://schemas.openxmlformats.org/drawingml/2006/main">
              <a:ext uri="{FF2B5EF4-FFF2-40B4-BE49-F238E27FC236}">
                <a16:creationId xmlns:a16="http://schemas.microsoft.com/office/drawing/2014/main" id="{6F4746E2-8F94-4DDF-8C45-B800CFA9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6" name="grid-v-400">
            <a:extLst xmlns:a="http://schemas.openxmlformats.org/drawingml/2006/main">
              <a:ext uri="{FF2B5EF4-FFF2-40B4-BE49-F238E27FC236}">
                <a16:creationId xmlns:a16="http://schemas.microsoft.com/office/drawing/2014/main" id="{FB4BA340-FCBE-45D2-876B-54EC2EB3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7" name="grid-v-480">
            <a:extLst xmlns:a="http://schemas.openxmlformats.org/drawingml/2006/main">
              <a:ext uri="{FF2B5EF4-FFF2-40B4-BE49-F238E27FC236}">
                <a16:creationId xmlns:a16="http://schemas.microsoft.com/office/drawing/2014/main" id="{1A4063E8-5BA0-48A7-B434-ACD01706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8" name="grid-v-560">
            <a:extLst xmlns:a="http://schemas.openxmlformats.org/drawingml/2006/main">
              <a:ext uri="{FF2B5EF4-FFF2-40B4-BE49-F238E27FC236}">
                <a16:creationId xmlns:a16="http://schemas.microsoft.com/office/drawing/2014/main" id="{E0FC92A2-64B1-4B36-BD56-F1C1091B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9" name="grid-v-640">
            <a:extLst xmlns:a="http://schemas.openxmlformats.org/drawingml/2006/main">
              <a:ext uri="{FF2B5EF4-FFF2-40B4-BE49-F238E27FC236}">
                <a16:creationId xmlns:a16="http://schemas.microsoft.com/office/drawing/2014/main" id="{DC6A1E88-44DE-4F74-929C-541265B6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0" name="grid-v-720">
            <a:extLst xmlns:a="http://schemas.openxmlformats.org/drawingml/2006/main">
              <a:ext uri="{FF2B5EF4-FFF2-40B4-BE49-F238E27FC236}">
                <a16:creationId xmlns:a16="http://schemas.microsoft.com/office/drawing/2014/main" id="{BF8F7009-8545-4AE3-9548-0C56003A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1" name="grid-v-800">
            <a:extLst xmlns:a="http://schemas.openxmlformats.org/drawingml/2006/main">
              <a:ext uri="{FF2B5EF4-FFF2-40B4-BE49-F238E27FC236}">
                <a16:creationId xmlns:a16="http://schemas.microsoft.com/office/drawing/2014/main" id="{7A081566-5810-4DD5-B66B-30E6EEA5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2" name="grid-v-880">
            <a:extLst xmlns:a="http://schemas.openxmlformats.org/drawingml/2006/main">
              <a:ext uri="{FF2B5EF4-FFF2-40B4-BE49-F238E27FC236}">
                <a16:creationId xmlns:a16="http://schemas.microsoft.com/office/drawing/2014/main" id="{DF515C65-8153-4766-BBA4-EE79235E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3" name="grid-v-960">
            <a:extLst xmlns:a="http://schemas.openxmlformats.org/drawingml/2006/main">
              <a:ext uri="{FF2B5EF4-FFF2-40B4-BE49-F238E27FC236}">
                <a16:creationId xmlns:a16="http://schemas.microsoft.com/office/drawing/2014/main" id="{DDD64DFF-1298-4981-8586-B17339B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4" name="grid-v-1040">
            <a:extLst xmlns:a="http://schemas.openxmlformats.org/drawingml/2006/main">
              <a:ext uri="{FF2B5EF4-FFF2-40B4-BE49-F238E27FC236}">
                <a16:creationId xmlns:a16="http://schemas.microsoft.com/office/drawing/2014/main" id="{65818AAD-B274-4A51-BAE6-DDA1C2EC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5" name="grid-v-1120">
            <a:extLst xmlns:a="http://schemas.openxmlformats.org/drawingml/2006/main">
              <a:ext uri="{FF2B5EF4-FFF2-40B4-BE49-F238E27FC236}">
                <a16:creationId xmlns:a16="http://schemas.microsoft.com/office/drawing/2014/main" id="{B3DE48A2-B6B4-4B2A-BA17-6662546F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6" name="grid-v-1200">
            <a:extLst xmlns:a="http://schemas.openxmlformats.org/drawingml/2006/main">
              <a:ext uri="{FF2B5EF4-FFF2-40B4-BE49-F238E27FC236}">
                <a16:creationId xmlns:a16="http://schemas.microsoft.com/office/drawing/2014/main" id="{7EA639C2-FA99-4F1A-A0FB-4DDA948A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7" name="grid-h-80">
            <a:extLst xmlns:a="http://schemas.openxmlformats.org/drawingml/2006/main">
              <a:ext uri="{FF2B5EF4-FFF2-40B4-BE49-F238E27FC236}">
                <a16:creationId xmlns:a16="http://schemas.microsoft.com/office/drawing/2014/main" id="{E87BCDAE-46CA-40CF-B740-25D13887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8" name="grid-h-160">
            <a:extLst xmlns:a="http://schemas.openxmlformats.org/drawingml/2006/main">
              <a:ext uri="{FF2B5EF4-FFF2-40B4-BE49-F238E27FC236}">
                <a16:creationId xmlns:a16="http://schemas.microsoft.com/office/drawing/2014/main" id="{EDA9E626-E916-464C-8C38-19048627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9" name="grid-h-240">
            <a:extLst xmlns:a="http://schemas.openxmlformats.org/drawingml/2006/main">
              <a:ext uri="{FF2B5EF4-FFF2-40B4-BE49-F238E27FC236}">
                <a16:creationId xmlns:a16="http://schemas.microsoft.com/office/drawing/2014/main" id="{0976E9F9-E49D-4B5F-9EFC-088EE50F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0" name="grid-h-320">
            <a:extLst xmlns:a="http://schemas.openxmlformats.org/drawingml/2006/main">
              <a:ext uri="{FF2B5EF4-FFF2-40B4-BE49-F238E27FC236}">
                <a16:creationId xmlns:a16="http://schemas.microsoft.com/office/drawing/2014/main" id="{4BA11C0D-3AD5-4041-B9CB-C756E9FD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1" name="grid-h-400">
            <a:extLst xmlns:a="http://schemas.openxmlformats.org/drawingml/2006/main">
              <a:ext uri="{FF2B5EF4-FFF2-40B4-BE49-F238E27FC236}">
                <a16:creationId xmlns:a16="http://schemas.microsoft.com/office/drawing/2014/main" id="{A5B37B1B-1626-4040-911D-8F49593E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2" name="grid-h-480">
            <a:extLst xmlns:a="http://schemas.openxmlformats.org/drawingml/2006/main">
              <a:ext uri="{FF2B5EF4-FFF2-40B4-BE49-F238E27FC236}">
                <a16:creationId xmlns:a16="http://schemas.microsoft.com/office/drawing/2014/main" id="{BEE96B63-96CA-4BCD-B582-C65A6F82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3" name="grid-h-560">
            <a:extLst xmlns:a="http://schemas.openxmlformats.org/drawingml/2006/main">
              <a:ext uri="{FF2B5EF4-FFF2-40B4-BE49-F238E27FC236}">
                <a16:creationId xmlns:a16="http://schemas.microsoft.com/office/drawing/2014/main" id="{F5D652A9-A340-4387-8B5F-FCF8A51D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4" name="grid-h-640">
            <a:extLst xmlns:a="http://schemas.openxmlformats.org/drawingml/2006/main">
              <a:ext uri="{FF2B5EF4-FFF2-40B4-BE49-F238E27FC236}">
                <a16:creationId xmlns:a16="http://schemas.microsoft.com/office/drawing/2014/main" id="{D902CC57-7436-4985-8848-894A4AC0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7801817-35C0-47EC-8FC1-0937DE6F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B46"/>
          </a:solidFill>
          <a:ln xmlns:a="http://schemas.openxmlformats.org/drawingml/2006/main" w="0">
            <a:solidFill>
              <a:srgbClr val="2F3B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83B22A-577E-4FA7-A3C3-A5096B41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Hackathon concept | enterprise security monitoring and surveillance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24050-08C7-4F75-B1E3-1A6691AE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8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F2730FF7-CC4E-4BE8-8F3F-4C3DFF21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29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77FC396D-3681-47F3-8C70-127FFB12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rPr>
              <a:t>INTELLIGENCE FABRIC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9F832-146F-44EE-BD0C-7544053C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048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The winning architecture is an event-driven security fabric, not a drone demo.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FC582D-2F86-4793-B534-8788D32A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867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Drones become the mobile sensor layer inside a connected enterprise system: ingest signals, reason at the edge, verify with aerial context, and route actions into security and operations platforms.</a:t>
            </a:r>
          </a:p>
        </p:txBody>
      </p:sp>
      <p:sp>
        <p:nvSpPr>
          <p:cNvPr id="32" name="estate-node">
            <a:extLst xmlns:a="http://schemas.openxmlformats.org/drawingml/2006/main">
              <a:ext uri="{FF2B5EF4-FFF2-40B4-BE49-F238E27FC236}">
                <a16:creationId xmlns:a16="http://schemas.microsoft.com/office/drawing/2014/main" id="{371496BD-F017-4E57-A4D5-B303F90D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695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33" name="estate-node-accent">
            <a:extLst xmlns:a="http://schemas.openxmlformats.org/drawingml/2006/main">
              <a:ext uri="{FF2B5EF4-FFF2-40B4-BE49-F238E27FC236}">
                <a16:creationId xmlns:a16="http://schemas.microsoft.com/office/drawing/2014/main" id="{3B745A2F-E14B-48A9-9060-99749470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747324-2D13-4F15-97B8-256BC95A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1428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Estate telemetry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4FD9D-013F-41DD-A38D-76042478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CCTV / VMS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access control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IoT sensors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fence radar</a:t>
            </a:r>
          </a:p>
        </p:txBody>
      </p:sp>
      <p:sp>
        <p:nvSpPr>
          <p:cNvPr id="36" name="drone-node">
            <a:extLst xmlns:a="http://schemas.openxmlformats.org/drawingml/2006/main">
              <a:ext uri="{FF2B5EF4-FFF2-40B4-BE49-F238E27FC236}">
                <a16:creationId xmlns:a16="http://schemas.microsoft.com/office/drawing/2014/main" id="{72DC2EFB-2592-41BB-A7C5-D1008993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1695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37" name="drone-node-accent">
            <a:extLst xmlns:a="http://schemas.openxmlformats.org/drawingml/2006/main">
              <a:ext uri="{FF2B5EF4-FFF2-40B4-BE49-F238E27FC236}">
                <a16:creationId xmlns:a16="http://schemas.microsoft.com/office/drawing/2014/main" id="{319D38B9-BDA5-45FA-91FB-CF300770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041C80-0328-4D36-A02E-211D17B6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1428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Drone layer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7135BB-0741-46D1-BE6C-35C69387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patrol routes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event launch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thermal / RGB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telemetry</a:t>
            </a:r>
          </a:p>
        </p:txBody>
      </p:sp>
      <p:sp>
        <p:nvSpPr>
          <p:cNvPr id="40" name="edge-container">
            <a:extLst xmlns:a="http://schemas.openxmlformats.org/drawingml/2006/main">
              <a:ext uri="{FF2B5EF4-FFF2-40B4-BE49-F238E27FC236}">
                <a16:creationId xmlns:a16="http://schemas.microsoft.com/office/drawing/2014/main" id="{F7B0B580-C334-4B5B-87AC-A507B86E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2686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19050">
            <a:solidFill>
              <a:srgbClr val="35D3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2226CF-B57F-455A-8E18-E17AC85A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43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EDGE INTELLIGENCE</a:t>
            </a:r>
          </a:p>
        </p:txBody>
      </p:sp>
      <p:sp>
        <p:nvSpPr>
          <p:cNvPr id="42" name="fusion-node">
            <a:extLst xmlns:a="http://schemas.openxmlformats.org/drawingml/2006/main">
              <a:ext uri="{FF2B5EF4-FFF2-40B4-BE49-F238E27FC236}">
                <a16:creationId xmlns:a16="http://schemas.microsoft.com/office/drawing/2014/main" id="{26EA028A-5C2F-4A68-AD8B-810CF6C8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43250"/>
            <a:ext cx="2076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43" name="fusion-node-accent">
            <a:extLst xmlns:a="http://schemas.openxmlformats.org/drawingml/2006/main">
              <a:ext uri="{FF2B5EF4-FFF2-40B4-BE49-F238E27FC236}">
                <a16:creationId xmlns:a16="http://schemas.microsoft.com/office/drawing/2014/main" id="{78F9F39A-B8F4-42D5-8D5F-D244CEEA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432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F4556A-10C8-4482-9F83-0743F40D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6707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Sensor fusion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565F60-1054-4DD5-B9DA-0124775C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05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RTSP / ONVIF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MQTT events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GPS + geofence</a:t>
            </a:r>
          </a:p>
        </p:txBody>
      </p:sp>
      <p:sp>
        <p:nvSpPr>
          <p:cNvPr id="46" name="ai-node">
            <a:extLst xmlns:a="http://schemas.openxmlformats.org/drawingml/2006/main">
              <a:ext uri="{FF2B5EF4-FFF2-40B4-BE49-F238E27FC236}">
                <a16:creationId xmlns:a16="http://schemas.microsoft.com/office/drawing/2014/main" id="{DE3C5265-3857-472D-9460-5FC91B53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00500"/>
            <a:ext cx="2076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47" name="ai-node-accent">
            <a:extLst xmlns:a="http://schemas.openxmlformats.org/drawingml/2006/main">
              <a:ext uri="{FF2B5EF4-FFF2-40B4-BE49-F238E27FC236}">
                <a16:creationId xmlns:a16="http://schemas.microsoft.com/office/drawing/2014/main" id="{14173299-922B-4227-86EB-2C6A5C82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005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38D99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3ADACC-6F07-4BDF-B5C8-75EE2A9E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2432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AI inference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486EF9-A911-45C1-BCB4-2AEF0934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62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intrusion detection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smoke / PPE / crowd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anomaly scoring</a:t>
            </a:r>
          </a:p>
        </p:txBody>
      </p:sp>
      <p:sp>
        <p:nvSpPr>
          <p:cNvPr id="50" name="twin-node">
            <a:extLst xmlns:a="http://schemas.openxmlformats.org/drawingml/2006/main">
              <a:ext uri="{FF2B5EF4-FFF2-40B4-BE49-F238E27FC236}">
                <a16:creationId xmlns:a16="http://schemas.microsoft.com/office/drawing/2014/main" id="{30B43CA0-B3FD-413C-989D-3CDF545F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1965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51" name="twin-node-accent">
            <a:extLst xmlns:a="http://schemas.openxmlformats.org/drawingml/2006/main">
              <a:ext uri="{FF2B5EF4-FFF2-40B4-BE49-F238E27FC236}">
                <a16:creationId xmlns:a16="http://schemas.microsoft.com/office/drawing/2014/main" id="{24BB57CF-8058-484F-A6A9-70FC0CFB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196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CFF"/>
          </a:solidFill>
          <a:ln xmlns:a="http://schemas.openxmlformats.org/drawingml/2006/main" w="0">
            <a:solidFill>
              <a:srgbClr val="9B7C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EBFD5C-7B8D-4886-9E70-5E127946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4347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Digital twin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9F5692-5303-4AFA-8C38-67E8DA6B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816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site zones + risk heat map</a:t>
            </a:r>
          </a:p>
        </p:txBody>
      </p:sp>
      <p:sp>
        <p:nvSpPr>
          <p:cNvPr id="54" name="decision-plane">
            <a:extLst xmlns:a="http://schemas.openxmlformats.org/drawingml/2006/main">
              <a:ext uri="{FF2B5EF4-FFF2-40B4-BE49-F238E27FC236}">
                <a16:creationId xmlns:a16="http://schemas.microsoft.com/office/drawing/2014/main" id="{7538BDD4-BADE-4560-AF83-A58520D2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2266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EE86ED-258E-45DE-B2A6-96653CC5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Decision plane</a:t>
            </a:r>
          </a:p>
        </p:txBody>
      </p:sp>
      <p:sp>
        <p:nvSpPr>
          <p:cNvPr id="56" name="decision-tag-1">
            <a:extLst xmlns:a="http://schemas.openxmlformats.org/drawingml/2006/main">
              <a:ext uri="{FF2B5EF4-FFF2-40B4-BE49-F238E27FC236}">
                <a16:creationId xmlns:a16="http://schemas.microsoft.com/office/drawing/2014/main" id="{E8906752-38E5-4543-A73F-291ABE91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FF5C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FBDA1F-3BB3-4562-B882-8CF70D03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9975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RISK SCORE</a:t>
            </a:r>
          </a:p>
        </p:txBody>
      </p:sp>
      <p:sp>
        <p:nvSpPr>
          <p:cNvPr id="58" name="decision-tag-2">
            <a:extLst xmlns:a="http://schemas.openxmlformats.org/drawingml/2006/main">
              <a:ext uri="{FF2B5EF4-FFF2-40B4-BE49-F238E27FC236}">
                <a16:creationId xmlns:a16="http://schemas.microsoft.com/office/drawing/2014/main" id="{65137AE6-63BF-4FA2-B883-EDE9C8E9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6235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2FCB99-5F9B-4491-ABB0-69923AEA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997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POLICY</a:t>
            </a:r>
          </a:p>
        </p:txBody>
      </p:sp>
      <p:sp>
        <p:nvSpPr>
          <p:cNvPr id="60" name="decision-tag-3">
            <a:extLst xmlns:a="http://schemas.openxmlformats.org/drawingml/2006/main">
              <a:ext uri="{FF2B5EF4-FFF2-40B4-BE49-F238E27FC236}">
                <a16:creationId xmlns:a16="http://schemas.microsoft.com/office/drawing/2014/main" id="{31AE0658-A305-4C27-AD30-BFADE232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9B7C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1DB9AA-EEC8-4EAF-8F96-6E049F4C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71925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RBAC</a:t>
            </a:r>
          </a:p>
        </p:txBody>
      </p:sp>
      <p:sp>
        <p:nvSpPr>
          <p:cNvPr id="62" name="decision-tag-4">
            <a:extLst xmlns:a="http://schemas.openxmlformats.org/drawingml/2006/main">
              <a:ext uri="{FF2B5EF4-FFF2-40B4-BE49-F238E27FC236}">
                <a16:creationId xmlns:a16="http://schemas.microsoft.com/office/drawing/2014/main" id="{BDFCAEA6-56A7-4AE8-85FD-9D1A307B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243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5D3E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74610F-5495-4E9D-9F7B-2855E2E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7192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SLA</a:t>
            </a:r>
          </a:p>
        </p:txBody>
      </p:sp>
      <p:sp>
        <p:nvSpPr>
          <p:cNvPr id="64" name="decision-tag-5">
            <a:extLst xmlns:a="http://schemas.openxmlformats.org/drawingml/2006/main">
              <a:ext uri="{FF2B5EF4-FFF2-40B4-BE49-F238E27FC236}">
                <a16:creationId xmlns:a16="http://schemas.microsoft.com/office/drawing/2014/main" id="{E91A3629-3634-44FC-8000-84D9AD4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C1DDB2-85DB-4B57-ABFC-1DEC78D5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33875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45E9EA-1676-45C5-91BB-188D4054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zero trust approvals</a:t>
            </a:r>
          </a:p>
        </p:txBody>
      </p:sp>
      <p:sp>
        <p:nvSpPr>
          <p:cNvPr id="67" name="soc-node">
            <a:extLst xmlns:a="http://schemas.openxmlformats.org/drawingml/2006/main">
              <a:ext uri="{FF2B5EF4-FFF2-40B4-BE49-F238E27FC236}">
                <a16:creationId xmlns:a16="http://schemas.microsoft.com/office/drawing/2014/main" id="{7AB5549D-0DDE-4EC0-8548-888BA791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68" name="soc-node-accent">
            <a:extLst xmlns:a="http://schemas.openxmlformats.org/drawingml/2006/main">
              <a:ext uri="{FF2B5EF4-FFF2-40B4-BE49-F238E27FC236}">
                <a16:creationId xmlns:a16="http://schemas.microsoft.com/office/drawing/2014/main" id="{455E74E6-A098-4FFC-971B-DC0F8BF1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63"/>
          </a:solidFill>
          <a:ln xmlns:a="http://schemas.openxmlformats.org/drawingml/2006/main" w="0">
            <a:solidFill>
              <a:srgbClr val="FF5C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298720C-8336-4378-BAC7-02C0B6DA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6002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Security operations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4675E65-607F-4D5D-83F9-D10379B9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SOC console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SIEM / SOAR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ticketing</a:t>
            </a:r>
          </a:p>
        </p:txBody>
      </p:sp>
      <p:sp>
        <p:nvSpPr>
          <p:cNvPr id="71" name="ehs-node">
            <a:extLst xmlns:a="http://schemas.openxmlformats.org/drawingml/2006/main">
              <a:ext uri="{FF2B5EF4-FFF2-40B4-BE49-F238E27FC236}">
                <a16:creationId xmlns:a16="http://schemas.microsoft.com/office/drawing/2014/main" id="{0D138D44-6CE0-448E-8C71-407B743B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6235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72" name="ehs-node-accent">
            <a:extLst xmlns:a="http://schemas.openxmlformats.org/drawingml/2006/main">
              <a:ext uri="{FF2B5EF4-FFF2-40B4-BE49-F238E27FC236}">
                <a16:creationId xmlns:a16="http://schemas.microsoft.com/office/drawing/2014/main" id="{B0DCA355-BC5E-4BBC-A9DC-32DBB9F3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623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A1AFE62-2EE6-4FE7-A204-69818F2B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86175"/>
            <a:ext cx="16002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Safety + compliance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90A90E1-DB7E-4853-A637-A333F6B8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243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EHS workflows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incident evidence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75" name="ops-node">
            <a:extLst xmlns:a="http://schemas.openxmlformats.org/drawingml/2006/main">
              <a:ext uri="{FF2B5EF4-FFF2-40B4-BE49-F238E27FC236}">
                <a16:creationId xmlns:a16="http://schemas.microsoft.com/office/drawing/2014/main" id="{4ADAD344-D24A-4318-A6C5-CED378D9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62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76" name="ops-node-accent">
            <a:extLst xmlns:a="http://schemas.openxmlformats.org/drawingml/2006/main">
              <a:ext uri="{FF2B5EF4-FFF2-40B4-BE49-F238E27FC236}">
                <a16:creationId xmlns:a16="http://schemas.microsoft.com/office/drawing/2014/main" id="{D8B31434-9ECC-4F35-B08C-A05A6225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625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38D99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8A5FB0-6E68-4E52-8576-2903A623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86325"/>
            <a:ext cx="16002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Operations systems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451CCE-2881-4960-874C-8CAA5BA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2445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CMMS work order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asset registry</a:t>
            </a:r>
          </a:p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maintenance SLA</a:t>
            </a:r>
          </a:p>
        </p:txBody>
      </p:sp>
      <p:sp>
        <p:nvSpPr>
          <p:cNvPr id="79" name="estate-to-edge">
            <a:extLst xmlns:a="http://schemas.openxmlformats.org/drawingml/2006/main">
              <a:ext uri="{FF2B5EF4-FFF2-40B4-BE49-F238E27FC236}">
                <a16:creationId xmlns:a16="http://schemas.microsoft.com/office/drawing/2014/main" id="{0FA04FD0-C6B8-49E2-A08E-6931B800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571500" cy="3619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0" name="drone-to-edge">
            <a:extLst xmlns:a="http://schemas.openxmlformats.org/drawingml/2006/main">
              <a:ext uri="{FF2B5EF4-FFF2-40B4-BE49-F238E27FC236}">
                <a16:creationId xmlns:a16="http://schemas.microsoft.com/office/drawing/2014/main" id="{4B978D8F-C984-47DB-81F0-D2DCB777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571500" cy="-3619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5D3E6"/>
            </a:solidFill>
            <a:prstDash val="solid"/>
          </a:ln>
        </p:spPr>
      </p:sp>
      <p:sp>
        <p:nvSpPr>
          <p:cNvPr id="81" name="fusion-to-decision">
            <a:extLst xmlns:a="http://schemas.openxmlformats.org/drawingml/2006/main">
              <a:ext uri="{FF2B5EF4-FFF2-40B4-BE49-F238E27FC236}">
                <a16:creationId xmlns:a16="http://schemas.microsoft.com/office/drawing/2014/main" id="{82F5D5A8-4146-4664-A036-A318817D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24250"/>
            <a:ext cx="609600" cy="209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5D3E6"/>
            </a:solidFill>
            <a:prstDash val="solid"/>
          </a:ln>
        </p:spPr>
      </p:sp>
      <p:sp>
        <p:nvSpPr>
          <p:cNvPr id="82" name="ai-to-decision">
            <a:extLst xmlns:a="http://schemas.openxmlformats.org/drawingml/2006/main">
              <a:ext uri="{FF2B5EF4-FFF2-40B4-BE49-F238E27FC236}">
                <a16:creationId xmlns:a16="http://schemas.microsoft.com/office/drawing/2014/main" id="{6B8F8E63-0DDA-4E1E-B27A-98A5E16F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00550"/>
            <a:ext cx="609600" cy="-3238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8D996"/>
            </a:solidFill>
            <a:prstDash val="solid"/>
          </a:ln>
        </p:spPr>
      </p:sp>
      <p:sp>
        <p:nvSpPr>
          <p:cNvPr id="83" name="decision-to-soc">
            <a:extLst xmlns:a="http://schemas.openxmlformats.org/drawingml/2006/main">
              <a:ext uri="{FF2B5EF4-FFF2-40B4-BE49-F238E27FC236}">
                <a16:creationId xmlns:a16="http://schemas.microsoft.com/office/drawing/2014/main" id="{BE616D26-14DE-4DD4-9779-CE13771F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609600" cy="-10858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5C63"/>
            </a:solidFill>
            <a:prstDash val="solid"/>
          </a:ln>
        </p:spPr>
      </p:sp>
      <p:sp>
        <p:nvSpPr>
          <p:cNvPr id="84" name="decision-to-ehs">
            <a:extLst xmlns:a="http://schemas.openxmlformats.org/drawingml/2006/main">
              <a:ext uri="{FF2B5EF4-FFF2-40B4-BE49-F238E27FC236}">
                <a16:creationId xmlns:a16="http://schemas.microsoft.com/office/drawing/2014/main" id="{9151FA65-E398-4E7B-9E95-63491ABD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609600" cy="1143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5" name="decision-to-ops">
            <a:extLst xmlns:a="http://schemas.openxmlformats.org/drawingml/2006/main">
              <a:ext uri="{FF2B5EF4-FFF2-40B4-BE49-F238E27FC236}">
                <a16:creationId xmlns:a16="http://schemas.microsoft.com/office/drawing/2014/main" id="{F034FD3E-8A11-4D96-B37C-5A22586F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609600" cy="13144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8D99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D31855-707B-4D2E-81F1-4FDCFEDC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816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API gateway / event bus</a:t>
            </a:r>
          </a:p>
        </p:txBody>
      </p:sp>
      <p:sp>
        <p:nvSpPr>
          <p:cNvPr id="87" name="event-bus">
            <a:extLst xmlns:a="http://schemas.openxmlformats.org/drawingml/2006/main">
              <a:ext uri="{FF2B5EF4-FFF2-40B4-BE49-F238E27FC236}">
                <a16:creationId xmlns:a16="http://schemas.microsoft.com/office/drawing/2014/main" id="{0AF97FCA-1379-488A-BC88-F1376007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9120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968"/>
          </a:solidFill>
          <a:ln xmlns:a="http://schemas.openxmlformats.org/drawingml/2006/main" w="0">
            <a:solidFill>
              <a:srgbClr val="0C596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DDF99CB-96B7-4041-9610-BD97EDC4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526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Every alert becomes a correlated event with location, evidence, confidence, owner, and next action.</a:t>
            </a:r>
          </a:p>
        </p:txBody>
      </p:sp>
    </p:spTree>
    <p:extLst>
      <p:ext uri="{BB962C8B-B14F-4D97-AF65-F5344CB8AC3E}">
        <p14:creationId xmlns:p14="http://schemas.microsoft.com/office/powerpoint/2010/main" val="20490411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6420532-D4DD-440E-8286-BE7CB474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B"/>
          </a:solidFill>
          <a:ln xmlns:a="http://schemas.openxmlformats.org/drawingml/2006/main" w="0">
            <a:solidFill>
              <a:srgbClr val="0E141B"/>
            </a:solidFill>
            <a:prstDash val="solid"/>
          </a:ln>
        </p:spPr>
      </p:sp>
      <p:sp>
        <p:nvSpPr>
          <p:cNvPr id="2" name="grid-v-80">
            <a:extLst xmlns:a="http://schemas.openxmlformats.org/drawingml/2006/main">
              <a:ext uri="{FF2B5EF4-FFF2-40B4-BE49-F238E27FC236}">
                <a16:creationId xmlns:a16="http://schemas.microsoft.com/office/drawing/2014/main" id="{C961F4EA-C3C7-456E-B649-527EAAC5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3" name="grid-v-160">
            <a:extLst xmlns:a="http://schemas.openxmlformats.org/drawingml/2006/main">
              <a:ext uri="{FF2B5EF4-FFF2-40B4-BE49-F238E27FC236}">
                <a16:creationId xmlns:a16="http://schemas.microsoft.com/office/drawing/2014/main" id="{EB8BC097-3442-42F1-870A-18FD785F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4" name="grid-v-240">
            <a:extLst xmlns:a="http://schemas.openxmlformats.org/drawingml/2006/main">
              <a:ext uri="{FF2B5EF4-FFF2-40B4-BE49-F238E27FC236}">
                <a16:creationId xmlns:a16="http://schemas.microsoft.com/office/drawing/2014/main" id="{2EDAB88B-CEA4-417D-9BFF-74AF2C1B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5" name="grid-v-320">
            <a:extLst xmlns:a="http://schemas.openxmlformats.org/drawingml/2006/main">
              <a:ext uri="{FF2B5EF4-FFF2-40B4-BE49-F238E27FC236}">
                <a16:creationId xmlns:a16="http://schemas.microsoft.com/office/drawing/2014/main" id="{86D4D295-0573-4922-8EA9-91158618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6" name="grid-v-400">
            <a:extLst xmlns:a="http://schemas.openxmlformats.org/drawingml/2006/main">
              <a:ext uri="{FF2B5EF4-FFF2-40B4-BE49-F238E27FC236}">
                <a16:creationId xmlns:a16="http://schemas.microsoft.com/office/drawing/2014/main" id="{2A34E3FA-CF80-4F7D-9B8E-5C9F0848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7" name="grid-v-480">
            <a:extLst xmlns:a="http://schemas.openxmlformats.org/drawingml/2006/main">
              <a:ext uri="{FF2B5EF4-FFF2-40B4-BE49-F238E27FC236}">
                <a16:creationId xmlns:a16="http://schemas.microsoft.com/office/drawing/2014/main" id="{E8816950-330D-457C-811E-229459A6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8" name="grid-v-560">
            <a:extLst xmlns:a="http://schemas.openxmlformats.org/drawingml/2006/main">
              <a:ext uri="{FF2B5EF4-FFF2-40B4-BE49-F238E27FC236}">
                <a16:creationId xmlns:a16="http://schemas.microsoft.com/office/drawing/2014/main" id="{A47CEDE4-704C-46EF-A29A-67708E66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9" name="grid-v-640">
            <a:extLst xmlns:a="http://schemas.openxmlformats.org/drawingml/2006/main">
              <a:ext uri="{FF2B5EF4-FFF2-40B4-BE49-F238E27FC236}">
                <a16:creationId xmlns:a16="http://schemas.microsoft.com/office/drawing/2014/main" id="{055F0766-F3DA-4EF2-947E-D2BAACC9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0" name="grid-v-720">
            <a:extLst xmlns:a="http://schemas.openxmlformats.org/drawingml/2006/main">
              <a:ext uri="{FF2B5EF4-FFF2-40B4-BE49-F238E27FC236}">
                <a16:creationId xmlns:a16="http://schemas.microsoft.com/office/drawing/2014/main" id="{2A67F37F-5903-4169-B193-18673C7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1" name="grid-v-800">
            <a:extLst xmlns:a="http://schemas.openxmlformats.org/drawingml/2006/main">
              <a:ext uri="{FF2B5EF4-FFF2-40B4-BE49-F238E27FC236}">
                <a16:creationId xmlns:a16="http://schemas.microsoft.com/office/drawing/2014/main" id="{E181409C-87CA-4C65-93C6-F28A98A1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2" name="grid-v-880">
            <a:extLst xmlns:a="http://schemas.openxmlformats.org/drawingml/2006/main">
              <a:ext uri="{FF2B5EF4-FFF2-40B4-BE49-F238E27FC236}">
                <a16:creationId xmlns:a16="http://schemas.microsoft.com/office/drawing/2014/main" id="{9B51EB40-C471-4CA3-B7F8-73D55910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3" name="grid-v-960">
            <a:extLst xmlns:a="http://schemas.openxmlformats.org/drawingml/2006/main">
              <a:ext uri="{FF2B5EF4-FFF2-40B4-BE49-F238E27FC236}">
                <a16:creationId xmlns:a16="http://schemas.microsoft.com/office/drawing/2014/main" id="{CCD4950D-4B3B-44A3-9555-7AFB8BBE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4" name="grid-v-1040">
            <a:extLst xmlns:a="http://schemas.openxmlformats.org/drawingml/2006/main">
              <a:ext uri="{FF2B5EF4-FFF2-40B4-BE49-F238E27FC236}">
                <a16:creationId xmlns:a16="http://schemas.microsoft.com/office/drawing/2014/main" id="{C4FB7352-7A3C-4F04-9B54-D4BFE671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5" name="grid-v-1120">
            <a:extLst xmlns:a="http://schemas.openxmlformats.org/drawingml/2006/main">
              <a:ext uri="{FF2B5EF4-FFF2-40B4-BE49-F238E27FC236}">
                <a16:creationId xmlns:a16="http://schemas.microsoft.com/office/drawing/2014/main" id="{855474B6-8661-4891-95AD-975F427E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6" name="grid-v-1200">
            <a:extLst xmlns:a="http://schemas.openxmlformats.org/drawingml/2006/main">
              <a:ext uri="{FF2B5EF4-FFF2-40B4-BE49-F238E27FC236}">
                <a16:creationId xmlns:a16="http://schemas.microsoft.com/office/drawing/2014/main" id="{9F8AC237-84BC-4B27-A649-D571B78A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7" name="grid-h-80">
            <a:extLst xmlns:a="http://schemas.openxmlformats.org/drawingml/2006/main">
              <a:ext uri="{FF2B5EF4-FFF2-40B4-BE49-F238E27FC236}">
                <a16:creationId xmlns:a16="http://schemas.microsoft.com/office/drawing/2014/main" id="{A1C6D1D8-4A1D-474A-81CC-E21AD58B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8" name="grid-h-160">
            <a:extLst xmlns:a="http://schemas.openxmlformats.org/drawingml/2006/main">
              <a:ext uri="{FF2B5EF4-FFF2-40B4-BE49-F238E27FC236}">
                <a16:creationId xmlns:a16="http://schemas.microsoft.com/office/drawing/2014/main" id="{212C3E8C-63EC-4120-8C7C-8A4C992D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9" name="grid-h-240">
            <a:extLst xmlns:a="http://schemas.openxmlformats.org/drawingml/2006/main">
              <a:ext uri="{FF2B5EF4-FFF2-40B4-BE49-F238E27FC236}">
                <a16:creationId xmlns:a16="http://schemas.microsoft.com/office/drawing/2014/main" id="{F4FFF9C5-3DC4-47C1-88CD-F89B99E7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0" name="grid-h-320">
            <a:extLst xmlns:a="http://schemas.openxmlformats.org/drawingml/2006/main">
              <a:ext uri="{FF2B5EF4-FFF2-40B4-BE49-F238E27FC236}">
                <a16:creationId xmlns:a16="http://schemas.microsoft.com/office/drawing/2014/main" id="{67C8473A-B86B-40A5-B9E9-96D7F252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1" name="grid-h-400">
            <a:extLst xmlns:a="http://schemas.openxmlformats.org/drawingml/2006/main">
              <a:ext uri="{FF2B5EF4-FFF2-40B4-BE49-F238E27FC236}">
                <a16:creationId xmlns:a16="http://schemas.microsoft.com/office/drawing/2014/main" id="{FF3A1AF7-6435-4F80-B40F-B9177737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2" name="grid-h-480">
            <a:extLst xmlns:a="http://schemas.openxmlformats.org/drawingml/2006/main">
              <a:ext uri="{FF2B5EF4-FFF2-40B4-BE49-F238E27FC236}">
                <a16:creationId xmlns:a16="http://schemas.microsoft.com/office/drawing/2014/main" id="{798F9583-3635-4EC6-A6C7-CAEE22A6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3" name="grid-h-560">
            <a:extLst xmlns:a="http://schemas.openxmlformats.org/drawingml/2006/main">
              <a:ext uri="{FF2B5EF4-FFF2-40B4-BE49-F238E27FC236}">
                <a16:creationId xmlns:a16="http://schemas.microsoft.com/office/drawing/2014/main" id="{430A303D-6547-406F-A810-3AA564D9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4" name="grid-h-640">
            <a:extLst xmlns:a="http://schemas.openxmlformats.org/drawingml/2006/main">
              <a:ext uri="{FF2B5EF4-FFF2-40B4-BE49-F238E27FC236}">
                <a16:creationId xmlns:a16="http://schemas.microsoft.com/office/drawing/2014/main" id="{92AE7B08-131C-4064-9293-ED975924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3CA9AB-304D-4ED3-9906-CCC59CF1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B46"/>
          </a:solidFill>
          <a:ln xmlns:a="http://schemas.openxmlformats.org/drawingml/2006/main" w="0">
            <a:solidFill>
              <a:srgbClr val="2F3B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038B49-4FDE-4A07-9C5E-64225C17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Hackathon concept | enterprise security monitoring and surveillance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A5654-F0A1-4E58-9E29-E093738E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8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B00F6C76-3FCA-48C6-9006-DE945523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9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96FF4F19-3547-4D5F-BB20-48599431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rPr>
              <a:t>AUTONOMOUS RESPONSE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983D3C-7633-4B76-B608-1119E9C7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Drones convert alerts into verified incident packets before humans enter risk zones.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AD0DA5-3921-457E-BA4C-80208331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The product is a closed loop: detect weak signals, launch aerial verification, classify risk, orchestrate response, and learn from operator feedback.</a:t>
            </a:r>
          </a:p>
        </p:txBody>
      </p:sp>
      <p:sp>
        <p:nvSpPr>
          <p:cNvPr id="32" name="detect-arrow">
            <a:extLst xmlns:a="http://schemas.openxmlformats.org/drawingml/2006/main">
              <a:ext uri="{FF2B5EF4-FFF2-40B4-BE49-F238E27FC236}">
                <a16:creationId xmlns:a16="http://schemas.microsoft.com/office/drawing/2014/main" id="{676C036E-DC5C-4115-9413-7DC02A65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962150" cy="876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19050">
            <a:solidFill>
              <a:srgbClr val="FF5C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FDF2F5-AAA3-43B0-9C44-6834292F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1. Detect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3C1E87-F58E-4454-915E-A006AD9D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camera, badge, fence, radar, IoT or SOS event</a:t>
            </a:r>
          </a:p>
        </p:txBody>
      </p:sp>
      <p:sp>
        <p:nvSpPr>
          <p:cNvPr id="35" name="verify-arrow">
            <a:extLst xmlns:a="http://schemas.openxmlformats.org/drawingml/2006/main">
              <a:ext uri="{FF2B5EF4-FFF2-40B4-BE49-F238E27FC236}">
                <a16:creationId xmlns:a16="http://schemas.microsoft.com/office/drawing/2014/main" id="{ED344F10-E4E7-4784-8BFF-67D3C99B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0300"/>
            <a:ext cx="2038350" cy="876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19050">
            <a:solidFill>
              <a:srgbClr val="35D3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2718E5-96A4-4564-9F59-E345CB73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241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2. Verify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1C354F-23AE-4470-98D3-ED831481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717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geofenced dispatch, RGB / thermal capture</a:t>
            </a:r>
          </a:p>
        </p:txBody>
      </p:sp>
      <p:sp>
        <p:nvSpPr>
          <p:cNvPr id="38" name="decide-arrow">
            <a:extLst xmlns:a="http://schemas.openxmlformats.org/drawingml/2006/main">
              <a:ext uri="{FF2B5EF4-FFF2-40B4-BE49-F238E27FC236}">
                <a16:creationId xmlns:a16="http://schemas.microsoft.com/office/drawing/2014/main" id="{1F9CCC71-C34C-4017-8AA6-EC0C52B5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1962150" cy="876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75B5EE-A918-45A2-B959-6AADF29B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3. Decide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941CAE-14F2-4382-9911-801F251C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7177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confidence, risk score, policy check</a:t>
            </a:r>
          </a:p>
        </p:txBody>
      </p:sp>
      <p:sp>
        <p:nvSpPr>
          <p:cNvPr id="41" name="respond-arrow">
            <a:extLst xmlns:a="http://schemas.openxmlformats.org/drawingml/2006/main">
              <a:ext uri="{FF2B5EF4-FFF2-40B4-BE49-F238E27FC236}">
                <a16:creationId xmlns:a16="http://schemas.microsoft.com/office/drawing/2014/main" id="{32F02D5E-C545-4078-B1F7-C40F7AF8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38350" cy="876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19050">
            <a:solidFill>
              <a:srgbClr val="38D99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95DEBB-F56B-4468-B433-AB1D8601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241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4. Respond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D0D957-2E00-434C-A2C9-FFF2759A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717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SOC case, EHS escalation, work order</a:t>
            </a:r>
          </a:p>
        </p:txBody>
      </p:sp>
      <p:sp>
        <p:nvSpPr>
          <p:cNvPr id="44" name="learn-arrow">
            <a:extLst xmlns:a="http://schemas.openxmlformats.org/drawingml/2006/main">
              <a:ext uri="{FF2B5EF4-FFF2-40B4-BE49-F238E27FC236}">
                <a16:creationId xmlns:a16="http://schemas.microsoft.com/office/drawing/2014/main" id="{CFF106E3-75C7-43BB-897B-4654CFB0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1866900" cy="876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19050">
            <a:solidFill>
              <a:srgbClr val="9B7C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591D4B-C25B-4BD6-9D1F-02F23B90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5. Learn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B76DE9-BA44-462F-B400-1FED8806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operator feedback tunes routing and thresholds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15C92C-E133-4632-B874-85FB03F0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7C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B7CFF"/>
                </a:solidFill>
                <a:latin typeface="Aptos Mono"/>
                <a:ea typeface="Aptos Mono"/>
                <a:cs typeface="Aptos Mono"/>
              </a:rPr>
              <a:t>closed-loop feedback improves the next patrol and escalation</a:t>
            </a:r>
          </a:p>
        </p:txBody>
      </p:sp>
      <p:sp>
        <p:nvSpPr>
          <p:cNvPr id="48" name="capability-lane">
            <a:extLst xmlns:a="http://schemas.openxmlformats.org/drawingml/2006/main">
              <a:ext uri="{FF2B5EF4-FFF2-40B4-BE49-F238E27FC236}">
                <a16:creationId xmlns:a16="http://schemas.microsoft.com/office/drawing/2014/main" id="{31D4FA54-CED7-49D4-BEF5-97065107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9886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EED6AB-DFF0-4D19-9180-4F2A06B6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Capability lanes inside the loop</a:t>
            </a:r>
          </a:p>
        </p:txBody>
      </p:sp>
      <p:sp>
        <p:nvSpPr>
          <p:cNvPr id="50" name="lane-0">
            <a:extLst xmlns:a="http://schemas.openxmlformats.org/drawingml/2006/main">
              <a:ext uri="{FF2B5EF4-FFF2-40B4-BE49-F238E27FC236}">
                <a16:creationId xmlns:a16="http://schemas.microsoft.com/office/drawing/2014/main" id="{3F6A3DB6-B15F-4663-A256-80E225E5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5D3E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241A20-952B-4912-BCA1-02833886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00600"/>
            <a:ext cx="1847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Patrol orchestration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B5B989-3AA7-4EF6-A1E5-388C517D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route planner, no-fly zones, battery health</a:t>
            </a:r>
          </a:p>
        </p:txBody>
      </p:sp>
      <p:sp>
        <p:nvSpPr>
          <p:cNvPr id="53" name="lane-1">
            <a:extLst xmlns:a="http://schemas.openxmlformats.org/drawingml/2006/main">
              <a:ext uri="{FF2B5EF4-FFF2-40B4-BE49-F238E27FC236}">
                <a16:creationId xmlns:a16="http://schemas.microsoft.com/office/drawing/2014/main" id="{C7CEA821-6B96-498C-A905-77FDF1FE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B20DD2-5F14-4EF2-B9BF-3863D80D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00600"/>
            <a:ext cx="1847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D99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8D996"/>
                </a:solidFill>
                <a:latin typeface="Aptos Mono"/>
                <a:ea typeface="Aptos Mono"/>
                <a:cs typeface="Aptos Mono"/>
              </a:rPr>
              <a:t>Computer vision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2F7949-E9CC-40C8-B93F-139F17A8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054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intrusion, smoke, PPE, crowding, object left behind</a:t>
            </a:r>
          </a:p>
        </p:txBody>
      </p:sp>
      <p:sp>
        <p:nvSpPr>
          <p:cNvPr id="56" name="lane-2">
            <a:extLst xmlns:a="http://schemas.openxmlformats.org/drawingml/2006/main">
              <a:ext uri="{FF2B5EF4-FFF2-40B4-BE49-F238E27FC236}">
                <a16:creationId xmlns:a16="http://schemas.microsoft.com/office/drawing/2014/main" id="{B1EF72A3-8185-49A8-BA79-5E443570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244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193A9A-945A-41DE-937A-DADA1428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00600"/>
            <a:ext cx="1847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Evidence graph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AD7303-9BC5-4110-BDA9-E2D0395F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054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video, image, thermal, timestamp, GPS, sensor chain</a:t>
            </a:r>
          </a:p>
        </p:txBody>
      </p:sp>
      <p:sp>
        <p:nvSpPr>
          <p:cNvPr id="59" name="lane-3">
            <a:extLst xmlns:a="http://schemas.openxmlformats.org/drawingml/2006/main">
              <a:ext uri="{FF2B5EF4-FFF2-40B4-BE49-F238E27FC236}">
                <a16:creationId xmlns:a16="http://schemas.microsoft.com/office/drawing/2014/main" id="{1EB63749-9789-41BF-A708-932D76F3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244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FF5C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AA6779-7771-4237-86DF-876AD277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00600"/>
            <a:ext cx="1847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5C63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5C63"/>
                </a:solidFill>
                <a:latin typeface="Aptos Mono"/>
                <a:ea typeface="Aptos Mono"/>
                <a:cs typeface="Aptos Mono"/>
              </a:rPr>
              <a:t>Response automation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FB23E7-C694-413D-8383-CB8501F4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054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SIEM/SOAR playbooks, tickets, guard dispatch</a:t>
            </a:r>
          </a:p>
        </p:txBody>
      </p:sp>
      <p:sp>
        <p:nvSpPr>
          <p:cNvPr id="62" name="human-loop-box">
            <a:extLst xmlns:a="http://schemas.openxmlformats.org/drawingml/2006/main">
              <a:ext uri="{FF2B5EF4-FFF2-40B4-BE49-F238E27FC236}">
                <a16:creationId xmlns:a16="http://schemas.microsoft.com/office/drawing/2014/main" id="{42641841-A297-473B-9AEE-587418FF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573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941E5C-A411-44F1-A5DA-1316158C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28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Human-in-the-loop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ACCF53-1C76-41D1-B60C-6E4E8550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5735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Security teams approve escalation or dispatch after verified context.</a:t>
            </a:r>
          </a:p>
        </p:txBody>
      </p:sp>
      <p:sp>
        <p:nvSpPr>
          <p:cNvPr id="65" name="audit-tag">
            <a:extLst xmlns:a="http://schemas.openxmlformats.org/drawingml/2006/main">
              <a:ext uri="{FF2B5EF4-FFF2-40B4-BE49-F238E27FC236}">
                <a16:creationId xmlns:a16="http://schemas.microsoft.com/office/drawing/2014/main" id="{BE1A1658-8FCF-4534-A00B-5D2DF83D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578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195D5F-7BA1-496E-A4DF-CC547DAA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05475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AUDITABLE</a:t>
            </a:r>
          </a:p>
        </p:txBody>
      </p:sp>
      <p:sp>
        <p:nvSpPr>
          <p:cNvPr id="67" name="policy-tag">
            <a:extLst xmlns:a="http://schemas.openxmlformats.org/drawingml/2006/main">
              <a:ext uri="{FF2B5EF4-FFF2-40B4-BE49-F238E27FC236}">
                <a16:creationId xmlns:a16="http://schemas.microsoft.com/office/drawing/2014/main" id="{46D3A2CC-6C02-4846-B08E-ED386FBB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657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0248F9-C72D-4D86-AC89-4FE7CF59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05475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POLICY DRIVEN</a:t>
            </a:r>
          </a:p>
        </p:txBody>
      </p:sp>
    </p:spTree>
    <p:extLst>
      <p:ext uri="{BB962C8B-B14F-4D97-AF65-F5344CB8AC3E}">
        <p14:creationId xmlns:p14="http://schemas.microsoft.com/office/powerpoint/2010/main" val="17914579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C68023D-2E76-4CDE-9CB3-711FA2CC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B"/>
          </a:solidFill>
          <a:ln xmlns:a="http://schemas.openxmlformats.org/drawingml/2006/main" w="0">
            <a:solidFill>
              <a:srgbClr val="0E141B"/>
            </a:solidFill>
            <a:prstDash val="solid"/>
          </a:ln>
        </p:spPr>
      </p:sp>
      <p:sp>
        <p:nvSpPr>
          <p:cNvPr id="2" name="grid-v-80">
            <a:extLst xmlns:a="http://schemas.openxmlformats.org/drawingml/2006/main">
              <a:ext uri="{FF2B5EF4-FFF2-40B4-BE49-F238E27FC236}">
                <a16:creationId xmlns:a16="http://schemas.microsoft.com/office/drawing/2014/main" id="{B81ED28F-553B-4592-B6A7-7A919AAB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3" name="grid-v-160">
            <a:extLst xmlns:a="http://schemas.openxmlformats.org/drawingml/2006/main">
              <a:ext uri="{FF2B5EF4-FFF2-40B4-BE49-F238E27FC236}">
                <a16:creationId xmlns:a16="http://schemas.microsoft.com/office/drawing/2014/main" id="{AC1821A0-623F-4BA5-B7A4-7F06EB80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4" name="grid-v-240">
            <a:extLst xmlns:a="http://schemas.openxmlformats.org/drawingml/2006/main">
              <a:ext uri="{FF2B5EF4-FFF2-40B4-BE49-F238E27FC236}">
                <a16:creationId xmlns:a16="http://schemas.microsoft.com/office/drawing/2014/main" id="{BC16A10D-4E03-4259-9696-2F1137BD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5" name="grid-v-320">
            <a:extLst xmlns:a="http://schemas.openxmlformats.org/drawingml/2006/main">
              <a:ext uri="{FF2B5EF4-FFF2-40B4-BE49-F238E27FC236}">
                <a16:creationId xmlns:a16="http://schemas.microsoft.com/office/drawing/2014/main" id="{E532D162-7957-47C6-9F3A-060AB658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6" name="grid-v-400">
            <a:extLst xmlns:a="http://schemas.openxmlformats.org/drawingml/2006/main">
              <a:ext uri="{FF2B5EF4-FFF2-40B4-BE49-F238E27FC236}">
                <a16:creationId xmlns:a16="http://schemas.microsoft.com/office/drawing/2014/main" id="{1C279F3C-7AE2-4F20-9BA6-6D05A509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7" name="grid-v-480">
            <a:extLst xmlns:a="http://schemas.openxmlformats.org/drawingml/2006/main">
              <a:ext uri="{FF2B5EF4-FFF2-40B4-BE49-F238E27FC236}">
                <a16:creationId xmlns:a16="http://schemas.microsoft.com/office/drawing/2014/main" id="{28A9859F-A480-4015-B965-C533FD90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8" name="grid-v-560">
            <a:extLst xmlns:a="http://schemas.openxmlformats.org/drawingml/2006/main">
              <a:ext uri="{FF2B5EF4-FFF2-40B4-BE49-F238E27FC236}">
                <a16:creationId xmlns:a16="http://schemas.microsoft.com/office/drawing/2014/main" id="{CD91F6F6-A4B5-4FBB-B176-A1314A30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9" name="grid-v-640">
            <a:extLst xmlns:a="http://schemas.openxmlformats.org/drawingml/2006/main">
              <a:ext uri="{FF2B5EF4-FFF2-40B4-BE49-F238E27FC236}">
                <a16:creationId xmlns:a16="http://schemas.microsoft.com/office/drawing/2014/main" id="{7C9D066D-E6C7-4282-AAE5-B72C0A6F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0" name="grid-v-720">
            <a:extLst xmlns:a="http://schemas.openxmlformats.org/drawingml/2006/main">
              <a:ext uri="{FF2B5EF4-FFF2-40B4-BE49-F238E27FC236}">
                <a16:creationId xmlns:a16="http://schemas.microsoft.com/office/drawing/2014/main" id="{53E43A0E-1954-4989-A15D-5AA14466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1" name="grid-v-800">
            <a:extLst xmlns:a="http://schemas.openxmlformats.org/drawingml/2006/main">
              <a:ext uri="{FF2B5EF4-FFF2-40B4-BE49-F238E27FC236}">
                <a16:creationId xmlns:a16="http://schemas.microsoft.com/office/drawing/2014/main" id="{5F610236-F5F9-4E9B-926A-C6EF6D95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2" name="grid-v-880">
            <a:extLst xmlns:a="http://schemas.openxmlformats.org/drawingml/2006/main">
              <a:ext uri="{FF2B5EF4-FFF2-40B4-BE49-F238E27FC236}">
                <a16:creationId xmlns:a16="http://schemas.microsoft.com/office/drawing/2014/main" id="{ABFD4F47-75A3-4680-849A-B7C8187B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3" name="grid-v-960">
            <a:extLst xmlns:a="http://schemas.openxmlformats.org/drawingml/2006/main">
              <a:ext uri="{FF2B5EF4-FFF2-40B4-BE49-F238E27FC236}">
                <a16:creationId xmlns:a16="http://schemas.microsoft.com/office/drawing/2014/main" id="{DB1A070D-6EEF-4F9D-896C-0C8FEA27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4" name="grid-v-1040">
            <a:extLst xmlns:a="http://schemas.openxmlformats.org/drawingml/2006/main">
              <a:ext uri="{FF2B5EF4-FFF2-40B4-BE49-F238E27FC236}">
                <a16:creationId xmlns:a16="http://schemas.microsoft.com/office/drawing/2014/main" id="{7DD0FAC0-2AF7-488E-9AC4-1C3D4034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5" name="grid-v-1120">
            <a:extLst xmlns:a="http://schemas.openxmlformats.org/drawingml/2006/main">
              <a:ext uri="{FF2B5EF4-FFF2-40B4-BE49-F238E27FC236}">
                <a16:creationId xmlns:a16="http://schemas.microsoft.com/office/drawing/2014/main" id="{3297CFE2-7008-4A05-A816-7578E004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6" name="grid-v-1200">
            <a:extLst xmlns:a="http://schemas.openxmlformats.org/drawingml/2006/main">
              <a:ext uri="{FF2B5EF4-FFF2-40B4-BE49-F238E27FC236}">
                <a16:creationId xmlns:a16="http://schemas.microsoft.com/office/drawing/2014/main" id="{38C472D6-8A26-4180-850B-8F7BF034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7" name="grid-h-80">
            <a:extLst xmlns:a="http://schemas.openxmlformats.org/drawingml/2006/main">
              <a:ext uri="{FF2B5EF4-FFF2-40B4-BE49-F238E27FC236}">
                <a16:creationId xmlns:a16="http://schemas.microsoft.com/office/drawing/2014/main" id="{CC810904-E175-477F-B8C4-BEE9777D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8" name="grid-h-160">
            <a:extLst xmlns:a="http://schemas.openxmlformats.org/drawingml/2006/main">
              <a:ext uri="{FF2B5EF4-FFF2-40B4-BE49-F238E27FC236}">
                <a16:creationId xmlns:a16="http://schemas.microsoft.com/office/drawing/2014/main" id="{9B8EBE15-8D89-4B8C-AD25-D5721D1A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9" name="grid-h-240">
            <a:extLst xmlns:a="http://schemas.openxmlformats.org/drawingml/2006/main">
              <a:ext uri="{FF2B5EF4-FFF2-40B4-BE49-F238E27FC236}">
                <a16:creationId xmlns:a16="http://schemas.microsoft.com/office/drawing/2014/main" id="{8C2054BD-B930-4134-B5F0-138573DD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0" name="grid-h-320">
            <a:extLst xmlns:a="http://schemas.openxmlformats.org/drawingml/2006/main">
              <a:ext uri="{FF2B5EF4-FFF2-40B4-BE49-F238E27FC236}">
                <a16:creationId xmlns:a16="http://schemas.microsoft.com/office/drawing/2014/main" id="{C756D10C-E46F-43BD-AA10-E2EF4E4F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1" name="grid-h-400">
            <a:extLst xmlns:a="http://schemas.openxmlformats.org/drawingml/2006/main">
              <a:ext uri="{FF2B5EF4-FFF2-40B4-BE49-F238E27FC236}">
                <a16:creationId xmlns:a16="http://schemas.microsoft.com/office/drawing/2014/main" id="{FD2728A9-4072-403C-AE9F-A148EC4A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2" name="grid-h-480">
            <a:extLst xmlns:a="http://schemas.openxmlformats.org/drawingml/2006/main">
              <a:ext uri="{FF2B5EF4-FFF2-40B4-BE49-F238E27FC236}">
                <a16:creationId xmlns:a16="http://schemas.microsoft.com/office/drawing/2014/main" id="{2B987299-42FE-4D17-8ACB-743F6801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3" name="grid-h-560">
            <a:extLst xmlns:a="http://schemas.openxmlformats.org/drawingml/2006/main">
              <a:ext uri="{FF2B5EF4-FFF2-40B4-BE49-F238E27FC236}">
                <a16:creationId xmlns:a16="http://schemas.microsoft.com/office/drawing/2014/main" id="{CDB3996B-CDB1-4E06-9D60-16BD88F9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4" name="grid-h-640">
            <a:extLst xmlns:a="http://schemas.openxmlformats.org/drawingml/2006/main">
              <a:ext uri="{FF2B5EF4-FFF2-40B4-BE49-F238E27FC236}">
                <a16:creationId xmlns:a16="http://schemas.microsoft.com/office/drawing/2014/main" id="{5B89CFB7-64E3-4F30-A5DF-C31A9E0C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A83A829-1A6A-45A7-B32E-034EA74A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B46"/>
          </a:solidFill>
          <a:ln xmlns:a="http://schemas.openxmlformats.org/drawingml/2006/main" w="0">
            <a:solidFill>
              <a:srgbClr val="2F3B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94E73-D572-4F79-918A-FD4D70E4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Hackathon concept | enterprise security monitoring and surveillance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D40330-AE19-46B7-AA6D-E1A8426B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8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71F4EAFD-7887-42DE-8052-0544B88A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29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17886DB8-8CA6-4F5A-B4D8-F6D3AFD5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rPr>
              <a:t>IMPACT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308BDB-2F64-4D07-8ECC-E3D0B161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The value case lands across infrastructure risk, human safety, and operational efficiency.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84C6D2-4C87-4E90-A1C0-6B1682B7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For judges, the strongest proof is a target operating model that connects technical capabilities to measurable enterprise outcomes.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688618-A372-4DCA-898B-37E77A9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Infra security 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472D0C-0A89-44FF-8FA9-110C9CD0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higher coverage of critical zones</a:t>
            </a:r>
          </a:p>
        </p:txBody>
      </p:sp>
      <p:sp>
        <p:nvSpPr>
          <p:cNvPr id="34" name="bar-bg-0">
            <a:extLst xmlns:a="http://schemas.openxmlformats.org/drawingml/2006/main">
              <a:ext uri="{FF2B5EF4-FFF2-40B4-BE49-F238E27FC236}">
                <a16:creationId xmlns:a16="http://schemas.microsoft.com/office/drawing/2014/main" id="{8A213B9B-A4FA-4C2C-BB13-E18F64C1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03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37"/>
          </a:solidFill>
          <a:ln xmlns:a="http://schemas.openxmlformats.org/drawingml/2006/main" w="0">
            <a:solidFill>
              <a:srgbClr val="202B37"/>
            </a:solidFill>
            <a:prstDash val="solid"/>
          </a:ln>
        </p:spPr>
      </p:sp>
      <p:sp>
        <p:nvSpPr>
          <p:cNvPr id="35" name="bar-0">
            <a:extLst xmlns:a="http://schemas.openxmlformats.org/drawingml/2006/main">
              <a:ext uri="{FF2B5EF4-FFF2-40B4-BE49-F238E27FC236}">
                <a16:creationId xmlns:a16="http://schemas.microsoft.com/office/drawing/2014/main" id="{18EB58AE-4C43-49DE-8218-69AE57C8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0325"/>
            <a:ext cx="34404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63"/>
          </a:solidFill>
          <a:ln xmlns:a="http://schemas.openxmlformats.org/drawingml/2006/main" w="0">
            <a:solidFill>
              <a:srgbClr val="FF5C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769D78-B0F8-4E7A-86D3-1D6323C0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622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5C63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5C63"/>
                </a:solidFill>
                <a:latin typeface="Aptos Mono"/>
                <a:ea typeface="Aptos Mono"/>
                <a:cs typeface="Aptos Mono"/>
              </a:rPr>
              <a:t>86%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49CA26-3093-49EE-BA57-B5EBB771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Human life exposure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B50326-DEE5-4F58-8AA9-697FE1CA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remote verification before entry</a:t>
            </a:r>
          </a:p>
        </p:txBody>
      </p:sp>
      <p:sp>
        <p:nvSpPr>
          <p:cNvPr id="39" name="bar-bg-1">
            <a:extLst xmlns:a="http://schemas.openxmlformats.org/drawingml/2006/main">
              <a:ext uri="{FF2B5EF4-FFF2-40B4-BE49-F238E27FC236}">
                <a16:creationId xmlns:a16="http://schemas.microsoft.com/office/drawing/2014/main" id="{C5857B16-1A43-444B-9E14-2DB9B8A0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242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37"/>
          </a:solidFill>
          <a:ln xmlns:a="http://schemas.openxmlformats.org/drawingml/2006/main" w="0">
            <a:solidFill>
              <a:srgbClr val="202B37"/>
            </a:solidFill>
            <a:prstDash val="solid"/>
          </a:ln>
        </p:spPr>
      </p:sp>
      <p:sp>
        <p:nvSpPr>
          <p:cNvPr id="40" name="bar-1">
            <a:extLst xmlns:a="http://schemas.openxmlformats.org/drawingml/2006/main">
              <a:ext uri="{FF2B5EF4-FFF2-40B4-BE49-F238E27FC236}">
                <a16:creationId xmlns:a16="http://schemas.microsoft.com/office/drawing/2014/main" id="{931ED225-FF41-4A7F-B032-174AB833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24225"/>
            <a:ext cx="31203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B8C8F5-0AE3-42BC-A765-8686401A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861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78%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88EA40-B6C1-4A74-80F4-4AE643AF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Operational efficiency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5225B5-CE97-4C8C-832A-F5693CB6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fewer blind dispatches</a:t>
            </a:r>
          </a:p>
        </p:txBody>
      </p:sp>
      <p:sp>
        <p:nvSpPr>
          <p:cNvPr id="44" name="bar-bg-2">
            <a:extLst xmlns:a="http://schemas.openxmlformats.org/drawingml/2006/main">
              <a:ext uri="{FF2B5EF4-FFF2-40B4-BE49-F238E27FC236}">
                <a16:creationId xmlns:a16="http://schemas.microsoft.com/office/drawing/2014/main" id="{DC3771A4-DAFA-4916-8BA2-044F3EBF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481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37"/>
          </a:solidFill>
          <a:ln xmlns:a="http://schemas.openxmlformats.org/drawingml/2006/main" w="0">
            <a:solidFill>
              <a:srgbClr val="202B37"/>
            </a:solidFill>
            <a:prstDash val="solid"/>
          </a:ln>
        </p:spPr>
      </p:sp>
      <p:sp>
        <p:nvSpPr>
          <p:cNvPr id="45" name="bar-2">
            <a:extLst xmlns:a="http://schemas.openxmlformats.org/drawingml/2006/main">
              <a:ext uri="{FF2B5EF4-FFF2-40B4-BE49-F238E27FC236}">
                <a16:creationId xmlns:a16="http://schemas.microsoft.com/office/drawing/2014/main" id="{8A7441CA-2542-43C9-A939-23AF844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48125"/>
            <a:ext cx="28803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38D99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DF4B1E-B6F8-4727-86AB-42AB9883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10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8D99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8D996"/>
                </a:solidFill>
                <a:latin typeface="Aptos Mono"/>
                <a:ea typeface="Aptos Mono"/>
                <a:cs typeface="Aptos Mono"/>
              </a:rPr>
              <a:t>72%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2B652A-DCC4-41BD-AF38-567DCBB9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Incident evidence quality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810E99-A556-4A6F-B1B5-8F31BE03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single chain of custody</a:t>
            </a:r>
          </a:p>
        </p:txBody>
      </p:sp>
      <p:sp>
        <p:nvSpPr>
          <p:cNvPr id="49" name="bar-bg-3">
            <a:extLst xmlns:a="http://schemas.openxmlformats.org/drawingml/2006/main">
              <a:ext uri="{FF2B5EF4-FFF2-40B4-BE49-F238E27FC236}">
                <a16:creationId xmlns:a16="http://schemas.microsoft.com/office/drawing/2014/main" id="{330EB82E-F7A0-4274-B8CF-633BAC8D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720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37"/>
          </a:solidFill>
          <a:ln xmlns:a="http://schemas.openxmlformats.org/drawingml/2006/main" w="0">
            <a:solidFill>
              <a:srgbClr val="202B37"/>
            </a:solidFill>
            <a:prstDash val="solid"/>
          </a:ln>
        </p:spPr>
      </p:sp>
      <p:sp>
        <p:nvSpPr>
          <p:cNvPr id="50" name="bar-3">
            <a:extLst xmlns:a="http://schemas.openxmlformats.org/drawingml/2006/main">
              <a:ext uri="{FF2B5EF4-FFF2-40B4-BE49-F238E27FC236}">
                <a16:creationId xmlns:a16="http://schemas.microsoft.com/office/drawing/2014/main" id="{65AE7CED-4DC3-4966-B7DA-7F0E6A64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72025"/>
            <a:ext cx="36804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F832CD-2645-4E0D-BD60-4BC12D1F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339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92%</a:t>
            </a:r>
          </a:p>
        </p:txBody>
      </p:sp>
      <p:sp>
        <p:nvSpPr>
          <p:cNvPr id="52" name="benefits-map">
            <a:extLst xmlns:a="http://schemas.openxmlformats.org/drawingml/2006/main">
              <a:ext uri="{FF2B5EF4-FFF2-40B4-BE49-F238E27FC236}">
                <a16:creationId xmlns:a16="http://schemas.microsoft.com/office/drawing/2014/main" id="{25BB0DD8-6E4B-4F56-A33B-F678B3E4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3048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78A515-2F2B-44B2-B5A6-E1A2A2CC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How the system creates the benefits</a:t>
            </a:r>
          </a:p>
        </p:txBody>
      </p:sp>
      <p:sp>
        <p:nvSpPr>
          <p:cNvPr id="54" name="bullet-0">
            <a:extLst xmlns:a="http://schemas.openxmlformats.org/drawingml/2006/main">
              <a:ext uri="{FF2B5EF4-FFF2-40B4-BE49-F238E27FC236}">
                <a16:creationId xmlns:a16="http://schemas.microsoft.com/office/drawing/2014/main" id="{4DCCF2CB-9513-4877-8A87-758BBBE5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4CCA5C-ABDE-495F-A3C0-A10461FB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Event-triggered launch shortens alarm-to-context time.</a:t>
            </a:r>
          </a:p>
        </p:txBody>
      </p:sp>
      <p:sp>
        <p:nvSpPr>
          <p:cNvPr id="56" name="bullet-1">
            <a:extLst xmlns:a="http://schemas.openxmlformats.org/drawingml/2006/main">
              <a:ext uri="{FF2B5EF4-FFF2-40B4-BE49-F238E27FC236}">
                <a16:creationId xmlns:a16="http://schemas.microsoft.com/office/drawing/2014/main" id="{9F9E6E98-3D6C-40D0-B5A3-7A333295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CB6D33-84BB-4C6A-9294-7085177B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Sensor fusion joins camera, access, drone, and IoT evidence.</a:t>
            </a:r>
          </a:p>
        </p:txBody>
      </p:sp>
      <p:sp>
        <p:nvSpPr>
          <p:cNvPr id="58" name="bullet-2">
            <a:extLst xmlns:a="http://schemas.openxmlformats.org/drawingml/2006/main">
              <a:ext uri="{FF2B5EF4-FFF2-40B4-BE49-F238E27FC236}">
                <a16:creationId xmlns:a16="http://schemas.microsoft.com/office/drawing/2014/main" id="{4A91DFCB-069C-4103-B2BA-B0E4E0B7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96F22A-868E-46CD-BA06-8E9C7329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Remote inspection reduces high-risk human exposure.</a:t>
            </a:r>
          </a:p>
        </p:txBody>
      </p:sp>
      <p:sp>
        <p:nvSpPr>
          <p:cNvPr id="60" name="bullet-3">
            <a:extLst xmlns:a="http://schemas.openxmlformats.org/drawingml/2006/main">
              <a:ext uri="{FF2B5EF4-FFF2-40B4-BE49-F238E27FC236}">
                <a16:creationId xmlns:a16="http://schemas.microsoft.com/office/drawing/2014/main" id="{19CE9DA0-819E-4273-BE28-642BDCE6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10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E6"/>
          </a:solidFill>
          <a:ln xmlns:a="http://schemas.openxmlformats.org/drawingml/2006/main" w="0">
            <a:solidFill>
              <a:srgbClr val="35D3E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C9AD4D-4320-46DF-AC30-8EC3EE2F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52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SOAR, CMMS, and EHS routing create accountable workflows.</a:t>
            </a:r>
          </a:p>
        </p:txBody>
      </p:sp>
      <p:sp>
        <p:nvSpPr>
          <p:cNvPr id="62" name="capex-tag">
            <a:extLst xmlns:a="http://schemas.openxmlformats.org/drawingml/2006/main">
              <a:ext uri="{FF2B5EF4-FFF2-40B4-BE49-F238E27FC236}">
                <a16:creationId xmlns:a16="http://schemas.microsoft.com/office/drawing/2014/main" id="{28AAD040-0202-4793-B3D3-4AEC082F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9B7C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F09CD4-13E1-4474-B418-149CBA6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CAPEX LEVERAGE</a:t>
            </a:r>
          </a:p>
        </p:txBody>
      </p:sp>
      <p:sp>
        <p:nvSpPr>
          <p:cNvPr id="64" name="safety-tag">
            <a:extLst xmlns:a="http://schemas.openxmlformats.org/drawingml/2006/main">
              <a:ext uri="{FF2B5EF4-FFF2-40B4-BE49-F238E27FC236}">
                <a16:creationId xmlns:a16="http://schemas.microsoft.com/office/drawing/2014/main" id="{F434D100-53AD-49D8-8528-F41FC76B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150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6BF141-D6D4-4C71-B27A-58B747B6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62625"/>
            <a:ext cx="1028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SAFER RESPONSE</a:t>
            </a:r>
          </a:p>
        </p:txBody>
      </p:sp>
      <p:sp>
        <p:nvSpPr>
          <p:cNvPr id="66" name="audit-ready-tag">
            <a:extLst xmlns:a="http://schemas.openxmlformats.org/drawingml/2006/main">
              <a:ext uri="{FF2B5EF4-FFF2-40B4-BE49-F238E27FC236}">
                <a16:creationId xmlns:a16="http://schemas.microsoft.com/office/drawing/2014/main" id="{A8191E79-B7CB-48BD-B17C-80DEB3D4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150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306627-B8F2-4FE4-858A-D3F70FD7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7626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AUDIT READY</a:t>
            </a:r>
          </a:p>
        </p:txBody>
      </p:sp>
      <p:sp>
        <p:nvSpPr>
          <p:cNvPr id="68" name="sla-tag">
            <a:extLst xmlns:a="http://schemas.openxmlformats.org/drawingml/2006/main">
              <a:ext uri="{FF2B5EF4-FFF2-40B4-BE49-F238E27FC236}">
                <a16:creationId xmlns:a16="http://schemas.microsoft.com/office/drawing/2014/main" id="{B84ACCB5-85DF-4F0E-8253-A321040E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150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5D3E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67FE41-FF74-4ED7-8871-1966F504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62625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SLA CONTROL</a:t>
            </a:r>
          </a:p>
        </p:txBody>
      </p:sp>
      <p:sp>
        <p:nvSpPr>
          <p:cNvPr id="70" name="impact-rule">
            <a:extLst xmlns:a="http://schemas.openxmlformats.org/drawingml/2006/main">
              <a:ext uri="{FF2B5EF4-FFF2-40B4-BE49-F238E27FC236}">
                <a16:creationId xmlns:a16="http://schemas.microsoft.com/office/drawing/2014/main" id="{FF55A853-D48F-4663-AAF6-98CAE989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624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B46"/>
          </a:solidFill>
          <a:ln xmlns:a="http://schemas.openxmlformats.org/drawingml/2006/main" w="0">
            <a:solidFill>
              <a:srgbClr val="2F3B4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994027-D1E8-471F-AE86-338FC8AF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Pilot KPI examples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65E90A-7AEE-484D-9CEC-71FD9AC9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669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coverage | response | false positives | exposure | evidence</a:t>
            </a:r>
          </a:p>
        </p:txBody>
      </p:sp>
    </p:spTree>
    <p:extLst>
      <p:ext uri="{BB962C8B-B14F-4D97-AF65-F5344CB8AC3E}">
        <p14:creationId xmlns:p14="http://schemas.microsoft.com/office/powerpoint/2010/main" val="2576612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A9BC401-CA7B-45E0-AFFE-8AAFD92D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B"/>
          </a:solidFill>
          <a:ln xmlns:a="http://schemas.openxmlformats.org/drawingml/2006/main" w="0">
            <a:solidFill>
              <a:srgbClr val="0E141B"/>
            </a:solidFill>
            <a:prstDash val="solid"/>
          </a:ln>
        </p:spPr>
      </p:sp>
      <p:sp>
        <p:nvSpPr>
          <p:cNvPr id="2" name="grid-v-80">
            <a:extLst xmlns:a="http://schemas.openxmlformats.org/drawingml/2006/main">
              <a:ext uri="{FF2B5EF4-FFF2-40B4-BE49-F238E27FC236}">
                <a16:creationId xmlns:a16="http://schemas.microsoft.com/office/drawing/2014/main" id="{84FFCCC0-61FB-4E4A-A2DB-8C27AB5D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3" name="grid-v-160">
            <a:extLst xmlns:a="http://schemas.openxmlformats.org/drawingml/2006/main">
              <a:ext uri="{FF2B5EF4-FFF2-40B4-BE49-F238E27FC236}">
                <a16:creationId xmlns:a16="http://schemas.microsoft.com/office/drawing/2014/main" id="{0DE0A69C-44ED-4D4F-9C6F-A873C70A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4" name="grid-v-240">
            <a:extLst xmlns:a="http://schemas.openxmlformats.org/drawingml/2006/main">
              <a:ext uri="{FF2B5EF4-FFF2-40B4-BE49-F238E27FC236}">
                <a16:creationId xmlns:a16="http://schemas.microsoft.com/office/drawing/2014/main" id="{914854F9-CE6E-4887-8386-ECAA2939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5" name="grid-v-320">
            <a:extLst xmlns:a="http://schemas.openxmlformats.org/drawingml/2006/main">
              <a:ext uri="{FF2B5EF4-FFF2-40B4-BE49-F238E27FC236}">
                <a16:creationId xmlns:a16="http://schemas.microsoft.com/office/drawing/2014/main" id="{BC30B054-7364-4B6C-9516-F5393E64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6" name="grid-v-400">
            <a:extLst xmlns:a="http://schemas.openxmlformats.org/drawingml/2006/main">
              <a:ext uri="{FF2B5EF4-FFF2-40B4-BE49-F238E27FC236}">
                <a16:creationId xmlns:a16="http://schemas.microsoft.com/office/drawing/2014/main" id="{54142EC1-27F9-4EC9-8E00-29EE2049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7" name="grid-v-480">
            <a:extLst xmlns:a="http://schemas.openxmlformats.org/drawingml/2006/main">
              <a:ext uri="{FF2B5EF4-FFF2-40B4-BE49-F238E27FC236}">
                <a16:creationId xmlns:a16="http://schemas.microsoft.com/office/drawing/2014/main" id="{3775D676-7387-4372-93FE-4912B509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8" name="grid-v-560">
            <a:extLst xmlns:a="http://schemas.openxmlformats.org/drawingml/2006/main">
              <a:ext uri="{FF2B5EF4-FFF2-40B4-BE49-F238E27FC236}">
                <a16:creationId xmlns:a16="http://schemas.microsoft.com/office/drawing/2014/main" id="{7D528CDB-8F81-4881-A0D7-6CD9DB17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9" name="grid-v-640">
            <a:extLst xmlns:a="http://schemas.openxmlformats.org/drawingml/2006/main">
              <a:ext uri="{FF2B5EF4-FFF2-40B4-BE49-F238E27FC236}">
                <a16:creationId xmlns:a16="http://schemas.microsoft.com/office/drawing/2014/main" id="{D5207410-3AA7-418E-BBB5-ADBC679A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0" name="grid-v-720">
            <a:extLst xmlns:a="http://schemas.openxmlformats.org/drawingml/2006/main">
              <a:ext uri="{FF2B5EF4-FFF2-40B4-BE49-F238E27FC236}">
                <a16:creationId xmlns:a16="http://schemas.microsoft.com/office/drawing/2014/main" id="{5FC90DDE-5DAC-49BE-AAA2-FCF40E49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1" name="grid-v-800">
            <a:extLst xmlns:a="http://schemas.openxmlformats.org/drawingml/2006/main">
              <a:ext uri="{FF2B5EF4-FFF2-40B4-BE49-F238E27FC236}">
                <a16:creationId xmlns:a16="http://schemas.microsoft.com/office/drawing/2014/main" id="{92F17FFB-A05F-46BA-BB6E-7332B03C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2" name="grid-v-880">
            <a:extLst xmlns:a="http://schemas.openxmlformats.org/drawingml/2006/main">
              <a:ext uri="{FF2B5EF4-FFF2-40B4-BE49-F238E27FC236}">
                <a16:creationId xmlns:a16="http://schemas.microsoft.com/office/drawing/2014/main" id="{B7A75273-DC3F-4869-9CF9-F24041BF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3" name="grid-v-960">
            <a:extLst xmlns:a="http://schemas.openxmlformats.org/drawingml/2006/main">
              <a:ext uri="{FF2B5EF4-FFF2-40B4-BE49-F238E27FC236}">
                <a16:creationId xmlns:a16="http://schemas.microsoft.com/office/drawing/2014/main" id="{FBC69D8E-377E-4283-90EA-25102181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4" name="grid-v-1040">
            <a:extLst xmlns:a="http://schemas.openxmlformats.org/drawingml/2006/main">
              <a:ext uri="{FF2B5EF4-FFF2-40B4-BE49-F238E27FC236}">
                <a16:creationId xmlns:a16="http://schemas.microsoft.com/office/drawing/2014/main" id="{D6CF83A5-B3C4-44EF-A944-E26EA199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5" name="grid-v-1120">
            <a:extLst xmlns:a="http://schemas.openxmlformats.org/drawingml/2006/main">
              <a:ext uri="{FF2B5EF4-FFF2-40B4-BE49-F238E27FC236}">
                <a16:creationId xmlns:a16="http://schemas.microsoft.com/office/drawing/2014/main" id="{8DB5B395-CD77-4188-A7D0-577E5E74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6" name="grid-v-1200">
            <a:extLst xmlns:a="http://schemas.openxmlformats.org/drawingml/2006/main">
              <a:ext uri="{FF2B5EF4-FFF2-40B4-BE49-F238E27FC236}">
                <a16:creationId xmlns:a16="http://schemas.microsoft.com/office/drawing/2014/main" id="{AED734D5-ED18-4D66-BC6B-912A2BE9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7" name="grid-h-80">
            <a:extLst xmlns:a="http://schemas.openxmlformats.org/drawingml/2006/main">
              <a:ext uri="{FF2B5EF4-FFF2-40B4-BE49-F238E27FC236}">
                <a16:creationId xmlns:a16="http://schemas.microsoft.com/office/drawing/2014/main" id="{BC2F7921-F4D4-4109-A0E9-72014F2F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8" name="grid-h-160">
            <a:extLst xmlns:a="http://schemas.openxmlformats.org/drawingml/2006/main">
              <a:ext uri="{FF2B5EF4-FFF2-40B4-BE49-F238E27FC236}">
                <a16:creationId xmlns:a16="http://schemas.microsoft.com/office/drawing/2014/main" id="{48091CEE-9A13-4857-ADAE-7FAAB53D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19" name="grid-h-240">
            <a:extLst xmlns:a="http://schemas.openxmlformats.org/drawingml/2006/main">
              <a:ext uri="{FF2B5EF4-FFF2-40B4-BE49-F238E27FC236}">
                <a16:creationId xmlns:a16="http://schemas.microsoft.com/office/drawing/2014/main" id="{17784D6B-65E1-45B0-A93B-1E4E0214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0" name="grid-h-320">
            <a:extLst xmlns:a="http://schemas.openxmlformats.org/drawingml/2006/main">
              <a:ext uri="{FF2B5EF4-FFF2-40B4-BE49-F238E27FC236}">
                <a16:creationId xmlns:a16="http://schemas.microsoft.com/office/drawing/2014/main" id="{B0815547-2F81-47F5-BCED-FB3D557A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1" name="grid-h-400">
            <a:extLst xmlns:a="http://schemas.openxmlformats.org/drawingml/2006/main">
              <a:ext uri="{FF2B5EF4-FFF2-40B4-BE49-F238E27FC236}">
                <a16:creationId xmlns:a16="http://schemas.microsoft.com/office/drawing/2014/main" id="{53CC905A-72E6-4762-8D83-178CE578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2" name="grid-h-480">
            <a:extLst xmlns:a="http://schemas.openxmlformats.org/drawingml/2006/main">
              <a:ext uri="{FF2B5EF4-FFF2-40B4-BE49-F238E27FC236}">
                <a16:creationId xmlns:a16="http://schemas.microsoft.com/office/drawing/2014/main" id="{D3D8FE87-3449-43F5-ADCF-7ACED98D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3" name="grid-h-560">
            <a:extLst xmlns:a="http://schemas.openxmlformats.org/drawingml/2006/main">
              <a:ext uri="{FF2B5EF4-FFF2-40B4-BE49-F238E27FC236}">
                <a16:creationId xmlns:a16="http://schemas.microsoft.com/office/drawing/2014/main" id="{EDCD0096-0417-4F40-86AE-55001249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4" name="grid-h-640">
            <a:extLst xmlns:a="http://schemas.openxmlformats.org/drawingml/2006/main">
              <a:ext uri="{FF2B5EF4-FFF2-40B4-BE49-F238E27FC236}">
                <a16:creationId xmlns:a16="http://schemas.microsoft.com/office/drawing/2014/main" id="{470367C2-7DB6-4AC4-8239-5F057B10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121A22"/>
            </a:solidFill>
            <a:prstDash val="solid"/>
          </a:ln>
        </p:spPr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3415125-B188-4BCF-B864-C4703CC2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B46"/>
          </a:solidFill>
          <a:ln xmlns:a="http://schemas.openxmlformats.org/drawingml/2006/main" w="0">
            <a:solidFill>
              <a:srgbClr val="2F3B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E502D-2FEC-404C-9BDA-B82ADD11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E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E8D"/>
                </a:solidFill>
                <a:latin typeface="Aptos"/>
                <a:ea typeface="Aptos"/>
                <a:cs typeface="Aptos"/>
              </a:rPr>
              <a:t>Hackathon concept | enterprise security monitoring and surveillance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042369-D2A2-4792-A2EB-AE73EFB9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28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9141BEC3-2C3B-4DC0-A8AF-7E75AC6E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9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86FF8C66-B440-45F5-B9B3-6E3F70BA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EB9C6"/>
                </a:solidFill>
                <a:latin typeface="Aptos Mono"/>
                <a:ea typeface="Aptos Mono"/>
                <a:cs typeface="Aptos Mono"/>
              </a:rPr>
              <a:t>HACKATHON MVP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ED0C01-C3B4-4120-A3C6-1627E704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 credible build can prove the loop with simulation, live telemetry, and SOC-ready evidence.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7D9BC3-1F12-4A8E-8527-69500693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The MVP should demonstrate connected intelligence, not just flight footage: a synthetic site, event ingestion, autonomous dispatch logic, AI triage, and workflow handoff.</a:t>
            </a:r>
          </a:p>
        </p:txBody>
      </p:sp>
      <p:sp>
        <p:nvSpPr>
          <p:cNvPr id="32" name="stage-0">
            <a:extLst xmlns:a="http://schemas.openxmlformats.org/drawingml/2006/main">
              <a:ext uri="{FF2B5EF4-FFF2-40B4-BE49-F238E27FC236}">
                <a16:creationId xmlns:a16="http://schemas.microsoft.com/office/drawing/2014/main" id="{0DDFD3F7-FE54-4228-9EF5-748B4256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19050">
            <a:solidFill>
              <a:srgbClr val="35D3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BE1BB6-5427-4ECB-87A3-9FEF3A04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D3E6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35D3E6"/>
                </a:solidFill>
                <a:latin typeface="Aptos Mono"/>
                <a:ea typeface="Aptos Mono"/>
                <a:cs typeface="Aptos Mono"/>
              </a:rPr>
              <a:t>0-12h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8F8606-284D-4E9B-BF58-DF68BF4F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Site twin + data contracts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7C4129-6083-4A6A-91B2-880BA020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zones, asset priority, event schema</a:t>
            </a:r>
          </a:p>
        </p:txBody>
      </p:sp>
      <p:sp>
        <p:nvSpPr>
          <p:cNvPr id="36" name="stage-line-0">
            <a:extLst xmlns:a="http://schemas.openxmlformats.org/drawingml/2006/main">
              <a:ext uri="{FF2B5EF4-FFF2-40B4-BE49-F238E27FC236}">
                <a16:creationId xmlns:a16="http://schemas.microsoft.com/office/drawing/2014/main" id="{AAA22156-6C17-4D8F-B0E1-585C6C5F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19475"/>
            <a:ext cx="5524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35160"/>
            </a:solidFill>
            <a:prstDash val="solid"/>
          </a:ln>
        </p:spPr>
      </p:sp>
      <p:sp>
        <p:nvSpPr>
          <p:cNvPr id="37" name="stage-1">
            <a:extLst xmlns:a="http://schemas.openxmlformats.org/drawingml/2006/main">
              <a:ext uri="{FF2B5EF4-FFF2-40B4-BE49-F238E27FC236}">
                <a16:creationId xmlns:a16="http://schemas.microsoft.com/office/drawing/2014/main" id="{8CF3475A-7D24-4ECA-9EA2-85D003DC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19050">
            <a:solidFill>
              <a:srgbClr val="38D99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915662-DC11-412C-9FFA-550B62BE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765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996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38D996"/>
                </a:solidFill>
                <a:latin typeface="Aptos Mono"/>
                <a:ea typeface="Aptos Mono"/>
                <a:cs typeface="Aptos Mono"/>
              </a:rPr>
              <a:t>12-30h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462509-2552-451E-BB3A-A4FB43FB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Drone patrol simulation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F831EC-FD42-464E-B64E-BF9A5C21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957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routes, battery state, geofence rules</a:t>
            </a:r>
          </a:p>
        </p:txBody>
      </p:sp>
      <p:sp>
        <p:nvSpPr>
          <p:cNvPr id="41" name="stage-line-1">
            <a:extLst xmlns:a="http://schemas.openxmlformats.org/drawingml/2006/main">
              <a:ext uri="{FF2B5EF4-FFF2-40B4-BE49-F238E27FC236}">
                <a16:creationId xmlns:a16="http://schemas.microsoft.com/office/drawing/2014/main" id="{CE260868-C1AA-4845-AAD0-BA2FDB23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19475"/>
            <a:ext cx="5524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35160"/>
            </a:solidFill>
            <a:prstDash val="solid"/>
          </a:ln>
        </p:spPr>
      </p:sp>
      <p:sp>
        <p:nvSpPr>
          <p:cNvPr id="42" name="stage-2">
            <a:extLst xmlns:a="http://schemas.openxmlformats.org/drawingml/2006/main">
              <a:ext uri="{FF2B5EF4-FFF2-40B4-BE49-F238E27FC236}">
                <a16:creationId xmlns:a16="http://schemas.microsoft.com/office/drawing/2014/main" id="{C75FCE2D-69B8-4670-95AE-BCD730BE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0510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32C9A9-394E-4EEB-880A-CA2B19CE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30-54h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096548-0E5B-4C81-ADE8-DA6B0CFE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AI triage + risk score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07B285-F620-476C-AF7F-80D0DE2E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CV classifier, anomaly score, confidence</a:t>
            </a:r>
          </a:p>
        </p:txBody>
      </p:sp>
      <p:sp>
        <p:nvSpPr>
          <p:cNvPr id="46" name="stage-line-2">
            <a:extLst xmlns:a="http://schemas.openxmlformats.org/drawingml/2006/main">
              <a:ext uri="{FF2B5EF4-FFF2-40B4-BE49-F238E27FC236}">
                <a16:creationId xmlns:a16="http://schemas.microsoft.com/office/drawing/2014/main" id="{AC320AD5-698C-4A7C-A031-C4D8EBA0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19475"/>
            <a:ext cx="5524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35160"/>
            </a:solidFill>
            <a:prstDash val="solid"/>
          </a:ln>
        </p:spPr>
      </p:sp>
      <p:sp>
        <p:nvSpPr>
          <p:cNvPr id="47" name="stage-3">
            <a:extLst xmlns:a="http://schemas.openxmlformats.org/drawingml/2006/main">
              <a:ext uri="{FF2B5EF4-FFF2-40B4-BE49-F238E27FC236}">
                <a16:creationId xmlns:a16="http://schemas.microsoft.com/office/drawing/2014/main" id="{A3A6742C-C879-4944-BA42-1FC41A03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0510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19050">
            <a:solidFill>
              <a:srgbClr val="FF5C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6535B9-8EE4-4B12-8791-1AF196EF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765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5C63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5C63"/>
                </a:solidFill>
                <a:latin typeface="Aptos Mono"/>
                <a:ea typeface="Aptos Mono"/>
                <a:cs typeface="Aptos Mono"/>
              </a:rPr>
              <a:t>54-72h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7DC06E-6988-4288-8B80-B3B03DF9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SOC evidence handoff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44F919-3F04-4728-ACEB-6715CC30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957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case packet, timeline, owner, SLA</a:t>
            </a:r>
          </a:p>
        </p:txBody>
      </p:sp>
      <p:sp>
        <p:nvSpPr>
          <p:cNvPr id="51" name="demo-output">
            <a:extLst xmlns:a="http://schemas.openxmlformats.org/drawingml/2006/main">
              <a:ext uri="{FF2B5EF4-FFF2-40B4-BE49-F238E27FC236}">
                <a16:creationId xmlns:a16="http://schemas.microsoft.com/office/drawing/2014/main" id="{9527658C-3F61-49CE-8536-958D1B2A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819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B6F1B2-9EDB-42F7-B98B-5A1277BA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Demo output</a:t>
            </a:r>
          </a:p>
        </p:txBody>
      </p:sp>
      <p:sp>
        <p:nvSpPr>
          <p:cNvPr id="53" name="demo-tag-1">
            <a:extLst xmlns:a="http://schemas.openxmlformats.org/drawingml/2006/main">
              <a:ext uri="{FF2B5EF4-FFF2-40B4-BE49-F238E27FC236}">
                <a16:creationId xmlns:a16="http://schemas.microsoft.com/office/drawing/2014/main" id="{3B9A5710-3F0B-4E0C-9764-22636A24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5D3E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C0C377-BC56-448C-A091-7CA1350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72075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LIVE MAP</a:t>
            </a:r>
          </a:p>
        </p:txBody>
      </p:sp>
      <p:sp>
        <p:nvSpPr>
          <p:cNvPr id="55" name="demo-tag-2">
            <a:extLst xmlns:a="http://schemas.openxmlformats.org/drawingml/2006/main">
              <a:ext uri="{FF2B5EF4-FFF2-40B4-BE49-F238E27FC236}">
                <a16:creationId xmlns:a16="http://schemas.microsoft.com/office/drawing/2014/main" id="{40503CA8-E86C-4CBD-8BC5-2DCEC515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244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82CAD2-682F-4A7D-9147-FDDC67A2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720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ALERT TIMELINE</a:t>
            </a:r>
          </a:p>
        </p:txBody>
      </p:sp>
      <p:sp>
        <p:nvSpPr>
          <p:cNvPr id="57" name="demo-tag-3">
            <a:extLst xmlns:a="http://schemas.openxmlformats.org/drawingml/2006/main">
              <a:ext uri="{FF2B5EF4-FFF2-40B4-BE49-F238E27FC236}">
                <a16:creationId xmlns:a16="http://schemas.microsoft.com/office/drawing/2014/main" id="{F36506D5-EA61-44E7-9072-59CE1373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244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B22CAE-1668-4ED3-9DE8-9D8895B5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72075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DRONE FEED</a:t>
            </a:r>
          </a:p>
        </p:txBody>
      </p:sp>
      <p:sp>
        <p:nvSpPr>
          <p:cNvPr id="59" name="demo-tag-4">
            <a:extLst xmlns:a="http://schemas.openxmlformats.org/drawingml/2006/main">
              <a:ext uri="{FF2B5EF4-FFF2-40B4-BE49-F238E27FC236}">
                <a16:creationId xmlns:a16="http://schemas.microsoft.com/office/drawing/2014/main" id="{66C92572-95E6-4E35-9159-D1FC7F21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244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FF5C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F6FC73-DF69-488C-99EB-111B5732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7207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SOAR CASE</a:t>
            </a:r>
          </a:p>
        </p:txBody>
      </p:sp>
      <p:sp>
        <p:nvSpPr>
          <p:cNvPr id="61" name="why-win">
            <a:extLst xmlns:a="http://schemas.openxmlformats.org/drawingml/2006/main">
              <a:ext uri="{FF2B5EF4-FFF2-40B4-BE49-F238E27FC236}">
                <a16:creationId xmlns:a16="http://schemas.microsoft.com/office/drawing/2014/main" id="{AB1B217A-9F00-4A83-A2E9-92EEB110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72000"/>
            <a:ext cx="4552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4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80C344-9EFB-45EC-88CD-91A440DB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Why it can win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E8C99E-7D11-48B1-B7DC-D5433573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24450"/>
            <a:ext cx="3924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It connects enterprise security systems, autonomous drone verification, edge intelligence, and accountable response into one story judges can see.</a:t>
            </a:r>
          </a:p>
        </p:txBody>
      </p:sp>
      <p:sp>
        <p:nvSpPr>
          <p:cNvPr id="64" name="submission-ask">
            <a:extLst xmlns:a="http://schemas.openxmlformats.org/drawingml/2006/main">
              <a:ext uri="{FF2B5EF4-FFF2-40B4-BE49-F238E27FC236}">
                <a16:creationId xmlns:a16="http://schemas.microsoft.com/office/drawing/2014/main" id="{EC96F931-021C-4CB3-9C14-54AD977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66800"/>
            <a:ext cx="1943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435160"/>
            </a:solidFill>
            <a:prstDash val="solid"/>
          </a:ln>
        </p:spPr>
      </p:sp>
      <p:sp>
        <p:nvSpPr>
          <p:cNvPr id="65" name="submission-ask-accent">
            <a:extLst xmlns:a="http://schemas.openxmlformats.org/drawingml/2006/main">
              <a:ext uri="{FF2B5EF4-FFF2-40B4-BE49-F238E27FC236}">
                <a16:creationId xmlns:a16="http://schemas.microsoft.com/office/drawing/2014/main" id="{6A8C3FAC-973E-49F8-8C29-77972F5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668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CFF"/>
          </a:solidFill>
          <a:ln xmlns:a="http://schemas.openxmlformats.org/drawingml/2006/main" w="0">
            <a:solidFill>
              <a:srgbClr val="9B7C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40A297-6A53-499C-9300-A5C980F8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190625"/>
            <a:ext cx="16764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Submission ask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50D288-D605-438C-8F3B-D55D0B62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2875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C6"/>
                </a:solidFill>
                <a:latin typeface="Aptos"/>
                <a:ea typeface="Aptos"/>
                <a:cs typeface="Aptos"/>
              </a:rPr>
              <a:t>Approve pilot: one high-risk site zone, one drone route, three event classes, one SOC workflow.</a:t>
            </a:r>
          </a:p>
        </p:txBody>
      </p:sp>
    </p:spTree>
    <p:extLst>
      <p:ext uri="{BB962C8B-B14F-4D97-AF65-F5344CB8AC3E}">
        <p14:creationId xmlns:p14="http://schemas.microsoft.com/office/powerpoint/2010/main" val="1848034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2026-06-14T17:37:52.2290000Z</dcterms:created>
  <dcterms:modified xsi:type="dcterms:W3CDTF">2026-06-14T17:37:52.2290000Z</dcterms:modified>
</coreProperties>
</file>